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5" r:id="rId10"/>
    <p:sldId id="266" r:id="rId11"/>
    <p:sldId id="268" r:id="rId12"/>
    <p:sldId id="263" r:id="rId13"/>
    <p:sldId id="269" r:id="rId14"/>
    <p:sldId id="271" r:id="rId15"/>
    <p:sldId id="272" r:id="rId16"/>
    <p:sldId id="273" r:id="rId17"/>
    <p:sldId id="274" r:id="rId18"/>
    <p:sldId id="275" r:id="rId19"/>
    <p:sldId id="270" r:id="rId20"/>
    <p:sldId id="277" r:id="rId21"/>
    <p:sldId id="276" r:id="rId22"/>
    <p:sldId id="278" r:id="rId23"/>
    <p:sldId id="279" r:id="rId24"/>
    <p:sldId id="280" r:id="rId25"/>
    <p:sldId id="281" r:id="rId26"/>
    <p:sldId id="26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845" autoAdjust="0"/>
  </p:normalViewPr>
  <p:slideViewPr>
    <p:cSldViewPr snapToGrid="0">
      <p:cViewPr varScale="1">
        <p:scale>
          <a:sx n="42" d="100"/>
          <a:sy n="42" d="100"/>
        </p:scale>
        <p:origin x="17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70017-489D-47A9-BC76-7F03143C47D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02673-5244-4A33-AD79-2636F6FB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15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Simulation</a:t>
            </a:r>
          </a:p>
          <a:p>
            <a:pPr>
              <a:buNone/>
            </a:pPr>
            <a:r>
              <a:rPr lang="en-US" b="1" dirty="0"/>
              <a:t>Definition</a:t>
            </a:r>
            <a:r>
              <a:rPr lang="en-US" dirty="0"/>
              <a:t>: Simulation is the </a:t>
            </a:r>
            <a:r>
              <a:rPr lang="en-US" b="1" dirty="0"/>
              <a:t>process of imitating or modeling real-world systems</a:t>
            </a:r>
            <a:r>
              <a:rPr lang="en-US" dirty="0"/>
              <a:t> or processes using </a:t>
            </a:r>
            <a:r>
              <a:rPr lang="en-US" b="1" dirty="0"/>
              <a:t>mathematical or computer-based models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It helps to </a:t>
            </a:r>
            <a:r>
              <a:rPr lang="en-US" b="1" dirty="0"/>
              <a:t>analyze and predict behavior</a:t>
            </a:r>
            <a:r>
              <a:rPr lang="en-US" dirty="0"/>
              <a:t> in complex or uncertain systems, without needing to experiment in the real world.</a:t>
            </a:r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Simulating traffic flow in a city to find out the best placement of traffic signals.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Simulating weather conditions for forecasting.</a:t>
            </a:r>
          </a:p>
          <a:p>
            <a:pPr>
              <a:buNone/>
            </a:pPr>
            <a:r>
              <a:rPr lang="en-US" b="1" dirty="0"/>
              <a:t>Why it's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b="1" dirty="0"/>
              <a:t>test scenarios</a:t>
            </a:r>
            <a:r>
              <a:rPr lang="en-US" dirty="0"/>
              <a:t> safely and cost-effectively.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b="1" dirty="0"/>
              <a:t>understand behavior</a:t>
            </a:r>
            <a:r>
              <a:rPr lang="en-US" dirty="0"/>
              <a:t> of systems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</a:t>
            </a:r>
            <a:r>
              <a:rPr lang="en-US" b="1" dirty="0"/>
              <a:t>real-life experiments</a:t>
            </a:r>
            <a:r>
              <a:rPr lang="en-US" dirty="0"/>
              <a:t> are impractical or expensive.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2673-5244-4A33-AD79-2636F6FBDD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97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Application of Probability in Simulation</a:t>
            </a:r>
          </a:p>
          <a:p>
            <a:pPr>
              <a:buNone/>
            </a:pPr>
            <a:r>
              <a:rPr lang="en-US" b="1" dirty="0"/>
              <a:t>Simulation + Probability</a:t>
            </a:r>
            <a:r>
              <a:rPr lang="en-US" dirty="0"/>
              <a:t> = A powerful tool to analyze uncertain, real-world scenarios by modeling randomness and predicting outcomes.</a:t>
            </a:r>
          </a:p>
          <a:p>
            <a:pPr>
              <a:buNone/>
            </a:pPr>
            <a:r>
              <a:rPr lang="en-US" b="1" dirty="0"/>
              <a:t>Fields of Application</a:t>
            </a:r>
          </a:p>
          <a:p>
            <a:pPr>
              <a:buNone/>
            </a:pPr>
            <a:r>
              <a:rPr lang="en-US" b="1" dirty="0"/>
              <a:t>🏢 1. Business: Risk Management</a:t>
            </a:r>
          </a:p>
          <a:p>
            <a:pPr>
              <a:buNone/>
            </a:pPr>
            <a:r>
              <a:rPr lang="en-US" b="1" dirty="0"/>
              <a:t>How probability is used: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Simulate market conditions, investment returns, or project outcomes.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Assign probabilities to different risks (e.g., market crash, supply chain failure).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 simulations (e.g., Monte Carlo simulation) to estimate losses, profits, or survival chances under various scenarios.</a:t>
            </a:r>
          </a:p>
          <a:p>
            <a:pPr>
              <a:buNone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company uses simulation to predict the probability of a new product failing and estimate the potential financial impact.</a:t>
            </a:r>
          </a:p>
          <a:p>
            <a:pPr>
              <a:buNone/>
            </a:pPr>
            <a:r>
              <a:rPr lang="en-US" b="1" dirty="0"/>
              <a:t>🏥 2. Healthcare: Disease Spread Models</a:t>
            </a:r>
          </a:p>
          <a:p>
            <a:pPr>
              <a:buNone/>
            </a:pPr>
            <a:r>
              <a:rPr lang="en-US" b="1" dirty="0"/>
              <a:t>How probability is used: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the probability of infection transmission from one person to another.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Simulate disease outbreaks under different conditions (e.g., vaccination rates, quarantine rules).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 in planning hospital resources and public health responses.</a:t>
            </a:r>
          </a:p>
          <a:p>
            <a:pPr>
              <a:buNone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During a pandemic, simulations use probabilities to estimate the number of people who might get infected over time.</a:t>
            </a:r>
          </a:p>
          <a:p>
            <a:pPr>
              <a:buNone/>
            </a:pPr>
            <a:r>
              <a:rPr lang="en-US" b="1" dirty="0"/>
              <a:t>🏭 3. Manufacturing: Process Optimization</a:t>
            </a:r>
          </a:p>
          <a:p>
            <a:pPr>
              <a:buNone/>
            </a:pPr>
            <a:r>
              <a:rPr lang="en-US" b="1" dirty="0"/>
              <a:t>How probability is used: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variability in production times, machine failures, or supply delays.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Simulate entire production lines to find bottlenecks or improve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probability to analyze the chance of defects or downtime.</a:t>
            </a:r>
          </a:p>
          <a:p>
            <a:pPr>
              <a:buNone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factory simulates its assembly line to calculate the probability of delays and finds the most efficient machine layout.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2673-5244-4A33-AD79-2636F6FBDD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54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Applications:</a:t>
            </a:r>
            <a:br>
              <a:rPr lang="en-US" dirty="0"/>
            </a:br>
            <a:r>
              <a:rPr lang="en-US" dirty="0"/>
              <a:t>Discrete probability functions are used in many real-world simulation scenarios, such as: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Inventory Management:</a:t>
            </a:r>
            <a:r>
              <a:rPr lang="en-US" dirty="0"/>
              <a:t> Modeling the number of items sold in a day.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Quality Control:</a:t>
            </a:r>
            <a:r>
              <a:rPr lang="en-US" dirty="0"/>
              <a:t> Counting the number of defective items in a batch.</a:t>
            </a:r>
          </a:p>
          <a:p>
            <a:r>
              <a:rPr lang="en-US" b="1" dirty="0"/>
              <a:t>🧩 Why It’s Important in Simulation:</a:t>
            </a:r>
          </a:p>
          <a:p>
            <a:r>
              <a:rPr lang="en-US" dirty="0"/>
              <a:t>In simulations, discrete probability functions are used to model situations where there are a </a:t>
            </a:r>
            <a:r>
              <a:rPr lang="en-US" b="1" dirty="0"/>
              <a:t>finite number of possible outcomes</a:t>
            </a:r>
            <a:r>
              <a:rPr lang="en-US" dirty="0"/>
              <a:t>. They are crucial for understanding </a:t>
            </a:r>
            <a:r>
              <a:rPr lang="en-US" b="1" dirty="0"/>
              <a:t>random events</a:t>
            </a:r>
            <a:r>
              <a:rPr lang="en-US" dirty="0"/>
              <a:t> like rolling dice, drawing cards, or customer arrivals in a queue system.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2673-5244-4A33-AD79-2636F6FBDD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64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Service time in a bank:</a:t>
            </a:r>
          </a:p>
          <a:p>
            <a:r>
              <a:rPr lang="en-US" dirty="0"/>
              <a:t>Can be 2.1 min, 2.15 min, 2.153 min, etc. </a:t>
            </a:r>
          </a:p>
          <a:p>
            <a:r>
              <a:rPr lang="en-US" dirty="0"/>
              <a:t>Modeled using exponential or normal distribution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🔷 Characteristics</a:t>
            </a:r>
          </a:p>
          <a:p>
            <a:r>
              <a:rPr lang="en-US" dirty="0"/>
              <a:t>✔ Infinite possible values</a:t>
            </a:r>
            <a:br>
              <a:rPr lang="en-US" dirty="0"/>
            </a:br>
            <a:r>
              <a:rPr lang="en-US" dirty="0"/>
              <a:t>✔ Probability defined over intervals</a:t>
            </a:r>
            <a:br>
              <a:rPr lang="en-US" dirty="0"/>
            </a:br>
            <a:r>
              <a:rPr lang="en-US" dirty="0"/>
              <a:t>✔ Area under curve = 1</a:t>
            </a:r>
            <a:br>
              <a:rPr lang="en-US" dirty="0"/>
            </a:br>
            <a:r>
              <a:rPr lang="en-US" dirty="0"/>
              <a:t>✔ Used in time-based simulation (arrival time, service time)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🔷 Examples in Simulation</a:t>
            </a:r>
          </a:p>
          <a:p>
            <a:r>
              <a:rPr lang="en-US" dirty="0"/>
              <a:t>Customer service time </a:t>
            </a:r>
          </a:p>
          <a:p>
            <a:r>
              <a:rPr lang="en-US" dirty="0"/>
              <a:t>Waiting time </a:t>
            </a:r>
          </a:p>
          <a:p>
            <a:r>
              <a:rPr lang="en-US" dirty="0"/>
              <a:t>Machine failure time </a:t>
            </a:r>
          </a:p>
          <a:p>
            <a:r>
              <a:rPr lang="en-US" dirty="0"/>
              <a:t>Traffic flow speed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2673-5244-4A33-AD79-2636F6FBDD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02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Properties of Random Numbers</a:t>
            </a:r>
          </a:p>
          <a:p>
            <a:r>
              <a:rPr lang="en-US" dirty="0"/>
              <a:t>Random numbers are widely used in various fields such as computer simulations, cryptography, and statistical sampling. Here are the key properties that characterize random numbers:</a:t>
            </a:r>
          </a:p>
          <a:p>
            <a:r>
              <a:rPr lang="en-US" b="1" dirty="0"/>
              <a:t>1. Uniform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numbers should be uniformly distributed over a specified range (e.g., 0 to 1).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number in the range should have an equal probability of being generated.</a:t>
            </a:r>
          </a:p>
          <a:p>
            <a:r>
              <a:rPr lang="en-US" b="1" dirty="0"/>
              <a:t>2. Independence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Successive random numbers should be independent of each 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should be no predictable relationship or pattern between consecutive numbers.</a:t>
            </a:r>
          </a:p>
          <a:p>
            <a:r>
              <a:rPr lang="en-US" b="1" dirty="0"/>
              <a:t>3. Unpredictability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sequence of random numbers should not be predictable.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cryptographic applications, this is crucial to ensure security.</a:t>
            </a:r>
          </a:p>
          <a:p>
            <a:r>
              <a:rPr lang="en-US" b="1" dirty="0"/>
              <a:t>4. Reproducibility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pseudo-random number generators (PRNGs), the sequence can be reproduced using the same initial seed.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property is important for debugging and testing in simulations.</a:t>
            </a:r>
          </a:p>
          <a:p>
            <a:r>
              <a:rPr lang="en-US" b="1" dirty="0"/>
              <a:t>5. Periodicity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True random numbers do not exhibit periodicity (repeating sequences).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Pseudo-random numbers may have a period after which the sequence repeats, but the period should be sufficiently long for practical applications.</a:t>
            </a:r>
          </a:p>
          <a:p>
            <a:r>
              <a:rPr lang="en-US" b="1" dirty="0"/>
              <a:t>6. Scalability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numbers can be scaled to different ranges or distributions using appropriate mathematical transformations.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example, a uniform random number in [0, 1] can be transformed into a random number with a normal distribution.</a:t>
            </a:r>
          </a:p>
          <a:p>
            <a:r>
              <a:rPr lang="en-US" b="1" dirty="0"/>
              <a:t>7. Randomness Tests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generated numbers should pass statistical randomness tests,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Chi-Square Test:</a:t>
            </a:r>
            <a:r>
              <a:rPr lang="en-US" dirty="0"/>
              <a:t> For uniformity.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Autocorrelation Test:</a:t>
            </a:r>
            <a:r>
              <a:rPr lang="en-US" dirty="0"/>
              <a:t> For independence.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Kolmogorov-Smirnov Test:</a:t>
            </a:r>
            <a:r>
              <a:rPr lang="en-US" dirty="0"/>
              <a:t> For distribution fitting.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Runs Test:</a:t>
            </a:r>
            <a:r>
              <a:rPr lang="en-US" dirty="0"/>
              <a:t> For detecting non-random patterns.</a:t>
            </a:r>
          </a:p>
          <a:p>
            <a:r>
              <a:rPr lang="en-US" b="1" dirty="0"/>
              <a:t>8. Hardware or Software Basis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numbers may be generated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True Random Number Generators (TRNGs):</a:t>
            </a:r>
            <a:r>
              <a:rPr lang="en-US" dirty="0"/>
              <a:t> Based on physical phenomena (e.g., thermal noise).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Pseudo-Random Number Generators (PRNGs):</a:t>
            </a:r>
            <a:r>
              <a:rPr lang="en-US" dirty="0"/>
              <a:t> Algorithmically generated and deterministic, but mimic randomness.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2673-5244-4A33-AD79-2636F6FB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42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Pseudo-Random Numbers</a:t>
            </a:r>
          </a:p>
          <a:p>
            <a:r>
              <a:rPr lang="en-US" dirty="0"/>
              <a:t>Pseudo-random numbers are numbers generated by deterministic algorithms that appear random but are reproducible under the same conditions. Here are the key aspects of pseudo-random numbers:</a:t>
            </a:r>
          </a:p>
          <a:p>
            <a:r>
              <a:rPr lang="en-US" b="1" dirty="0"/>
              <a:t>1. Definition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Pseudo-random numbers are generated using algorithms and are not truly random.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are produced by </a:t>
            </a:r>
            <a:r>
              <a:rPr lang="en-US" b="1" dirty="0"/>
              <a:t>Pseudo-Random Number Generators (PRNGs)</a:t>
            </a:r>
            <a:r>
              <a:rPr lang="en-US" dirty="0"/>
              <a:t>.</a:t>
            </a:r>
          </a:p>
          <a:p>
            <a:r>
              <a:rPr lang="en-US" b="1" dirty="0"/>
              <a:t>2. Deterministic Nature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PRNGs generate numbers based on an initial value called the </a:t>
            </a:r>
            <a:r>
              <a:rPr lang="en-US" b="1" dirty="0"/>
              <a:t>seed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same seed will produce the same sequence of pseudo-random numbers.</a:t>
            </a:r>
          </a:p>
          <a:p>
            <a:r>
              <a:rPr lang="en-US" b="1" dirty="0"/>
              <a:t>3.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PRNGs are computationally efficient, making them suitable for applications requiring a large number of random numbers.</a:t>
            </a:r>
          </a:p>
          <a:p>
            <a:r>
              <a:rPr lang="en-US" b="1" dirty="0"/>
              <a:t>4. Periodicity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PRNGs have a finite sequence of numbers before they repeat, known as the </a:t>
            </a:r>
            <a:r>
              <a:rPr lang="en-US" b="1" dirty="0"/>
              <a:t>period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High-quality PRNGs have a very long period to minimize repetitions.</a:t>
            </a:r>
          </a:p>
          <a:p>
            <a:r>
              <a:rPr lang="en-US" b="1" dirty="0"/>
              <a:t>5.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 simulations, gaming, cryptography, and statistical modeling where deterministic reproducibility is acceptable.</a:t>
            </a:r>
          </a:p>
          <a:p>
            <a:r>
              <a:rPr lang="en-US" b="1" dirty="0"/>
              <a:t>6.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suitable for cryptographic purposes without additional enhancements.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Patterns in the sequence may lead to biases in statistical applications.</a:t>
            </a:r>
          </a:p>
          <a:p>
            <a:r>
              <a:rPr lang="en-US" b="1" dirty="0"/>
              <a:t>7. Common Algorithms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Linear Congruential Generator (LCG):</a:t>
            </a:r>
            <a:r>
              <a:rPr lang="en-US" dirty="0"/>
              <a:t> Simple and widely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Mersenne Twister:</a:t>
            </a:r>
            <a:r>
              <a:rPr lang="en-US" dirty="0"/>
              <a:t> Known for its long period and high-quality randomness.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XORShift</a:t>
            </a:r>
            <a:r>
              <a:rPr lang="en-US" b="1" dirty="0"/>
              <a:t>:</a:t>
            </a:r>
            <a:r>
              <a:rPr lang="en-US" dirty="0"/>
              <a:t> Efficient and used in high-performance computing.</a:t>
            </a:r>
          </a:p>
          <a:p>
            <a:r>
              <a:rPr lang="en-US" b="1" dirty="0"/>
              <a:t>8. Quality Tests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Pseudo-random numbers are evaluated using statistical tests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Uniformity Tests.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Independence Tests.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Randomness Tests (e.g., Diehard Tests, TestU01).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2673-5244-4A33-AD79-2636F6FBDD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30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2673-5244-4A33-AD79-2636F6FBDD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35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2673-5244-4A33-AD79-2636F6FBDD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67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N	Calculation	( X_n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0	Seed	0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lang="da-DK" dirty="0"/>
              <a:t>(5·0 + 3) mod 8	3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lang="da-DK" dirty="0"/>
              <a:t>(5·3 + 3) mod 8	2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lang="da-DK" dirty="0"/>
              <a:t>(5·2 + 3) mod 8	5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lang="da-DK" dirty="0"/>
              <a:t>(5·5 + 3) mod 8	4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lang="da-DK" dirty="0"/>
              <a:t>(5·4 + 3) mod 8	7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lang="da-DK" dirty="0"/>
              <a:t>(5·7 + 3) mod 8	6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lang="da-DK" dirty="0"/>
              <a:t>(5·6 + 3) mod 8	1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lang="da-DK" dirty="0"/>
              <a:t>(5·1 + 3) mod 8	0 (repeat)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2673-5244-4A33-AD79-2636F6FBDD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958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  </a:t>
                </a:r>
              </a:p>
              <a:p>
                <a:r>
                  <a:rPr lang="en-US" b="1" dirty="0"/>
                  <a:t>c and m should be coprime</a:t>
                </a:r>
              </a:p>
              <a:p>
                <a:r>
                  <a:rPr lang="en-US" b="1" dirty="0"/>
                  <a:t>Meaning</a:t>
                </a:r>
              </a:p>
              <a:p>
                <a:r>
                  <a:rPr lang="en-US" dirty="0"/>
                  <a:t>Two numbers are </a:t>
                </a:r>
                <a:r>
                  <a:rPr lang="en-US" b="1" dirty="0"/>
                  <a:t>coprime</a:t>
                </a:r>
                <a:r>
                  <a:rPr lang="en-US" dirty="0"/>
                  <a:t> if they have </a:t>
                </a:r>
                <a:r>
                  <a:rPr lang="en-US" b="1" dirty="0"/>
                  <a:t>no common factor other than 1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Why is this required?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r>
                  <a:rPr lang="en-US" dirty="0"/>
                  <a:t>share a common factor, the sequence will </a:t>
                </a:r>
                <a:r>
                  <a:rPr lang="en-US" b="1" dirty="0"/>
                  <a:t>skip certain values</a:t>
                </a:r>
                <a:endParaRPr lang="en-US" dirty="0"/>
              </a:p>
              <a:p>
                <a:r>
                  <a:rPr lang="en-US" dirty="0"/>
                  <a:t>This causes the generator to </a:t>
                </a:r>
                <a:r>
                  <a:rPr lang="en-US" b="1" dirty="0"/>
                  <a:t>cycle early</a:t>
                </a:r>
                <a:r>
                  <a:rPr lang="en-US" dirty="0"/>
                  <a:t>, reducing the period</a:t>
                </a:r>
              </a:p>
              <a:p>
                <a:r>
                  <a:rPr lang="en-US" dirty="0"/>
                  <a:t>The increment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lang="en-US" dirty="0"/>
                  <a:t>shifts the sequence</a:t>
                </a:r>
              </a:p>
              <a:p>
                <a:r>
                  <a:rPr lang="en-US" dirty="0"/>
                  <a:t>If the shift size shares factors with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r>
                  <a:rPr lang="en-US" dirty="0"/>
                  <a:t>, some states are </a:t>
                </a:r>
                <a:r>
                  <a:rPr lang="en-US" b="1" dirty="0"/>
                  <a:t>never reached</a:t>
                </a:r>
                <a:endParaRPr lang="en-US" dirty="0"/>
              </a:p>
              <a:p>
                <a:r>
                  <a:rPr lang="en-US" b="1" dirty="0"/>
                  <a:t>Example</a:t>
                </a:r>
              </a:p>
              <a:p>
                <a:r>
                  <a:rPr lang="en-US" dirty="0"/>
                  <a:t>Let: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➡ The generator will </a:t>
                </a:r>
                <a:r>
                  <a:rPr lang="en-US" b="1" dirty="0"/>
                  <a:t>not produce all 10 values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But if: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Full traversal of the state space becomes possible.</a:t>
                </a:r>
              </a:p>
              <a:p>
                <a:r>
                  <a:rPr lang="en-US" dirty="0"/>
                  <a:t>Hence , The increment and modulus must be relatively prime to ensure that the generator visits all residue classes modulo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2. 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/>
                  <a:t>should be divisible by all prime factors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🔹 Meaning</a:t>
                </a:r>
              </a:p>
              <a:p>
                <a:r>
                  <a:rPr lang="en-US" dirty="0"/>
                  <a:t>If the prime factorization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r>
                  <a:rPr lang="en-US" dirty="0"/>
                  <a:t>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Sup>
                        <m:sSub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  <m:sup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…</m:t>
                      </m:r>
                      <m:sSubSup>
                        <m:sSub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  <m:sup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≡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mod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for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all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b="0" dirty="0"/>
              </a:p>
              <a:p>
                <a:endParaRPr lang="en-US" dirty="0"/>
              </a:p>
              <a:p>
                <a:r>
                  <a:rPr lang="en-US" b="1" dirty="0"/>
                  <a:t>Why is this required?</a:t>
                </a:r>
              </a:p>
              <a:p>
                <a:r>
                  <a:rPr lang="en-US" dirty="0"/>
                  <a:t>The multiplier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</m:oMath>
                </a14:m>
                <a:r>
                  <a:rPr lang="en-US" dirty="0"/>
                  <a:t>controls </a:t>
                </a:r>
                <a:r>
                  <a:rPr lang="en-US" b="1" dirty="0"/>
                  <a:t>how fast and how widely</a:t>
                </a:r>
                <a:r>
                  <a:rPr lang="en-US" dirty="0"/>
                  <a:t> the sequence spreads</a:t>
                </a:r>
              </a:p>
              <a:p>
                <a:r>
                  <a:rPr lang="en-US" dirty="0"/>
                  <a:t>This condition ensures the generator cycles through </a:t>
                </a:r>
                <a:r>
                  <a:rPr lang="en-US" b="1" dirty="0"/>
                  <a:t>all residues</a:t>
                </a:r>
                <a:r>
                  <a:rPr lang="en-US" dirty="0"/>
                  <a:t>, not just a subset</a:t>
                </a:r>
              </a:p>
              <a:p>
                <a:r>
                  <a:rPr lang="en-US" dirty="0"/>
                  <a:t>a−1 being divisible by all prime factors ensures </a:t>
                </a:r>
                <a:r>
                  <a:rPr lang="en-US" b="1" dirty="0"/>
                  <a:t>proper mixing</a:t>
                </a:r>
                <a:endParaRPr lang="en-US" dirty="0"/>
              </a:p>
              <a:p>
                <a:r>
                  <a:rPr lang="en-US" dirty="0"/>
                  <a:t>Prevents the sequence from getting trapped in smaller cycles</a:t>
                </a:r>
              </a:p>
              <a:p>
                <a:r>
                  <a:rPr lang="en-US" b="1" dirty="0"/>
                  <a:t>Example</a:t>
                </a:r>
              </a:p>
              <a:p>
                <a:r>
                  <a:rPr lang="en-US" dirty="0"/>
                  <a:t>Let: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12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Prime factors: 2 and 3</a:t>
                </a:r>
              </a:p>
              <a:p>
                <a:r>
                  <a:rPr lang="en-US" dirty="0"/>
                  <a:t>Choose: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12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✔ Divisible by both 2 and 3 → condition satisfied</a:t>
                </a:r>
              </a:p>
              <a:p>
                <a:r>
                  <a:rPr lang="en-US" dirty="0"/>
                  <a:t>But if: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7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⇒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✔ divisible by 2 and 3 → OK</a:t>
                </a:r>
              </a:p>
              <a:p>
                <a:r>
                  <a:rPr lang="en-US" dirty="0"/>
                  <a:t>If: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⇒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❌ divisible by 2 but </a:t>
                </a:r>
                <a:r>
                  <a:rPr lang="en-US" b="1" dirty="0"/>
                  <a:t>not by 3</a:t>
                </a:r>
                <a:endParaRPr lang="en-US" dirty="0"/>
              </a:p>
              <a:p>
                <a:r>
                  <a:rPr lang="en-US" dirty="0"/>
                  <a:t>➡ Maximum period not achieved</a:t>
                </a:r>
              </a:p>
              <a:p>
                <a:endParaRPr lang="en-US" dirty="0"/>
              </a:p>
              <a:p>
                <a:r>
                  <a:rPr lang="en-US" dirty="0"/>
                  <a:t>Hence, This condition ensures that the multiplier properly spans all residue classes modulo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3. </a:t>
                </a:r>
              </a:p>
              <a:p>
                <a:r>
                  <a:rPr lang="en-US" b="1" dirty="0"/>
                  <a:t>If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r>
                  <a:rPr lang="en-US" b="1" dirty="0"/>
                  <a:t>is a power of 2,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</m:oMath>
                </a14:m>
                <a:r>
                  <a:rPr lang="en-US" b="1" dirty="0"/>
                  <a:t>should not be congruent to 1 modulo 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≢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mod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b="1" dirty="0"/>
                  <a:t>When does this apply?</a:t>
                </a:r>
              </a:p>
              <a:p>
                <a:r>
                  <a:rPr lang="en-US" dirty="0"/>
                  <a:t>Only when: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  <m: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US" b="1" dirty="0"/>
                  <a:t>🔹 Why is this required?</a:t>
                </a:r>
              </a:p>
              <a:p>
                <a:r>
                  <a:rPr lang="en-US" dirty="0"/>
                  <a:t>Powers of 2 create </a:t>
                </a:r>
                <a:r>
                  <a:rPr lang="en-US" b="1" dirty="0"/>
                  <a:t>binary patterns</a:t>
                </a:r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≡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mod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the sequence develops </a:t>
                </a:r>
                <a:r>
                  <a:rPr lang="en-US" b="1" dirty="0"/>
                  <a:t>strong correlations</a:t>
                </a:r>
                <a:endParaRPr lang="en-US" dirty="0"/>
              </a:p>
              <a:p>
                <a:r>
                  <a:rPr lang="en-US" dirty="0"/>
                  <a:t>Leads to </a:t>
                </a:r>
                <a:r>
                  <a:rPr lang="en-US" b="1" dirty="0"/>
                  <a:t>short cycles</a:t>
                </a:r>
                <a:r>
                  <a:rPr lang="en-US" dirty="0"/>
                  <a:t> and poor randomness</a:t>
                </a:r>
              </a:p>
              <a:p>
                <a:endParaRPr lang="en-US" dirty="0"/>
              </a:p>
              <a:p>
                <a:r>
                  <a:rPr lang="en-US" dirty="0"/>
                  <a:t>This condition prevents the LCG from behaving like: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Which is almost a </a:t>
                </a:r>
                <a:r>
                  <a:rPr lang="en-US" b="1" dirty="0"/>
                  <a:t>simple counter</a:t>
                </a:r>
                <a:r>
                  <a:rPr lang="en-US" dirty="0"/>
                  <a:t>, not a random generator</a:t>
                </a:r>
              </a:p>
              <a:p>
                <a:endParaRPr lang="en-US" dirty="0"/>
              </a:p>
              <a:p>
                <a:r>
                  <a:rPr lang="en-US" b="1" dirty="0"/>
                  <a:t>Example</a:t>
                </a:r>
              </a:p>
              <a:p>
                <a:r>
                  <a:rPr lang="en-US" dirty="0"/>
                  <a:t>Let: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16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Bad choice: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≡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mod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❌ Not allowed</a:t>
                </a:r>
              </a:p>
              <a:p>
                <a:r>
                  <a:rPr lang="en-US" dirty="0"/>
                  <a:t>Good choices: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</m:oMath>
                </a14:m>
                <a:r>
                  <a:rPr lang="en-US" dirty="0"/>
                  <a:t>→ 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≡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mod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7</m:t>
                    </m:r>
                  </m:oMath>
                </a14:m>
                <a:r>
                  <a:rPr lang="ar-AE" dirty="0"/>
                  <a:t>→ </a:t>
                </a:r>
                <a14:m>
                  <m:oMath xmlns:m="http://schemas.openxmlformats.org/officeDocument/2006/math">
                    <m:r>
                      <a:rPr lang="ar-AE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7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≡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mod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ar-AE" dirty="0"/>
                  <a:t>✔ </a:t>
                </a:r>
                <a:r>
                  <a:rPr lang="en-US" dirty="0"/>
                  <a:t>Acceptable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Hence, This condition avoids degeneracy in LCGs when the modulus is a power of 2.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  </a:t>
                </a:r>
              </a:p>
              <a:p>
                <a:r>
                  <a:rPr lang="en-US" b="1" dirty="0"/>
                  <a:t>c and m should be coprime</a:t>
                </a:r>
              </a:p>
              <a:p>
                <a:r>
                  <a:rPr lang="en-US" b="1" dirty="0"/>
                  <a:t>Meaning</a:t>
                </a:r>
              </a:p>
              <a:p>
                <a:r>
                  <a:rPr lang="en-US" dirty="0"/>
                  <a:t>Two numbers are </a:t>
                </a:r>
                <a:r>
                  <a:rPr lang="en-US" b="1" dirty="0"/>
                  <a:t>coprime</a:t>
                </a:r>
                <a:r>
                  <a:rPr lang="en-US" dirty="0"/>
                  <a:t> if they have </a:t>
                </a:r>
                <a:r>
                  <a:rPr lang="en-US" b="1" dirty="0"/>
                  <a:t>no common factor other than 1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Why is this required?</a:t>
                </a:r>
              </a:p>
              <a:p>
                <a:r>
                  <a:rPr lang="en-US" dirty="0"/>
                  <a:t>If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en-US" dirty="0"/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en-US" dirty="0"/>
                  <a:t>share a common factor, the sequence will </a:t>
                </a:r>
                <a:r>
                  <a:rPr lang="en-US" b="1" dirty="0"/>
                  <a:t>skip certain values</a:t>
                </a:r>
                <a:endParaRPr lang="en-US" dirty="0"/>
              </a:p>
              <a:p>
                <a:r>
                  <a:rPr lang="en-US" dirty="0"/>
                  <a:t>This causes the generator to </a:t>
                </a:r>
                <a:r>
                  <a:rPr lang="en-US" b="1" dirty="0"/>
                  <a:t>cycle early</a:t>
                </a:r>
                <a:r>
                  <a:rPr lang="en-US" dirty="0"/>
                  <a:t>, reducing the period</a:t>
                </a:r>
              </a:p>
              <a:p>
                <a:r>
                  <a:rPr lang="en-US" dirty="0"/>
                  <a:t>The increment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en-US" dirty="0"/>
                  <a:t>shifts the sequence</a:t>
                </a:r>
              </a:p>
              <a:p>
                <a:r>
                  <a:rPr lang="en-US" dirty="0"/>
                  <a:t>If the shift size shares factors with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en-US" dirty="0"/>
                  <a:t>, some states are </a:t>
                </a:r>
                <a:r>
                  <a:rPr lang="en-US" b="1" dirty="0"/>
                  <a:t>never reached</a:t>
                </a:r>
                <a:endParaRPr lang="en-US" dirty="0"/>
              </a:p>
              <a:p>
                <a:r>
                  <a:rPr lang="en-US" b="1" dirty="0"/>
                  <a:t>Example</a:t>
                </a:r>
              </a:p>
              <a:p>
                <a:r>
                  <a:rPr lang="en-US" dirty="0"/>
                  <a:t>Let: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𝑚=10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𝑐=4</a:t>
                </a:r>
                <a:endParaRPr lang="en-US" dirty="0"/>
              </a:p>
              <a:p>
                <a:r>
                  <a:rPr lang="en-US" dirty="0"/>
                  <a:t>➡ The generator will </a:t>
                </a:r>
                <a:r>
                  <a:rPr lang="en-US" b="1" dirty="0"/>
                  <a:t>not produce all 10 values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But if: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𝑐=3</a:t>
                </a:r>
                <a:endParaRPr lang="en-US" dirty="0"/>
              </a:p>
              <a:p>
                <a:r>
                  <a:rPr lang="en-US" dirty="0"/>
                  <a:t>Full traversal of the state space becomes possible.</a:t>
                </a:r>
              </a:p>
              <a:p>
                <a:r>
                  <a:rPr lang="en-US" dirty="0"/>
                  <a:t>Hence , The increment and modulus must be relatively prime to ensure that the generator visits all residue classes modulo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2. 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𝑎−1</a:t>
                </a:r>
                <a:r>
                  <a:rPr lang="en-US" b="1" dirty="0"/>
                  <a:t>should be divisible by all prime factors of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endParaRPr lang="en-US" b="1" dirty="0"/>
              </a:p>
              <a:p>
                <a:r>
                  <a:rPr lang="en-US" b="1" dirty="0"/>
                  <a:t>🔹 Meaning</a:t>
                </a:r>
              </a:p>
              <a:p>
                <a:r>
                  <a:rPr lang="en-US" dirty="0"/>
                  <a:t>If the prime factorization of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en-US" dirty="0"/>
                  <a:t>is: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𝑝_1^(𝑘_1 ) 𝑝_2^(𝑘_2 )…𝑝_𝑛^(𝑘_𝑛 )</a:t>
                </a:r>
                <a:endParaRPr lang="ar-AE" dirty="0"/>
              </a:p>
              <a:p>
                <a:r>
                  <a:rPr lang="en-US" dirty="0"/>
                  <a:t>Then: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𝑎−1≡0 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mod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𝑝_𝑖 ) 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"for all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𝑝_𝑖</a:t>
                </a:r>
                <a:endParaRPr lang="ar-AE" b="0" dirty="0"/>
              </a:p>
              <a:p>
                <a:endParaRPr lang="en-US" dirty="0"/>
              </a:p>
              <a:p>
                <a:r>
                  <a:rPr lang="en-US" b="1" dirty="0"/>
                  <a:t>Why is this required?</a:t>
                </a:r>
              </a:p>
              <a:p>
                <a:r>
                  <a:rPr lang="en-US" dirty="0"/>
                  <a:t>The multiplier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en-US" dirty="0"/>
                  <a:t>controls </a:t>
                </a:r>
                <a:r>
                  <a:rPr lang="en-US" b="1" dirty="0"/>
                  <a:t>how fast and how widely</a:t>
                </a:r>
                <a:r>
                  <a:rPr lang="en-US" dirty="0"/>
                  <a:t> the sequence spreads</a:t>
                </a:r>
              </a:p>
              <a:p>
                <a:r>
                  <a:rPr lang="en-US" dirty="0"/>
                  <a:t>This condition ensures the generator cycles through </a:t>
                </a:r>
                <a:r>
                  <a:rPr lang="en-US" b="1" dirty="0"/>
                  <a:t>all residues</a:t>
                </a:r>
                <a:r>
                  <a:rPr lang="en-US" dirty="0"/>
                  <a:t>, not just a subset</a:t>
                </a:r>
              </a:p>
              <a:p>
                <a:r>
                  <a:rPr lang="en-US" dirty="0"/>
                  <a:t>a−1 being divisible by all prime factors ensures </a:t>
                </a:r>
                <a:r>
                  <a:rPr lang="en-US" b="1" dirty="0"/>
                  <a:t>proper mixing</a:t>
                </a:r>
                <a:endParaRPr lang="en-US" dirty="0"/>
              </a:p>
              <a:p>
                <a:r>
                  <a:rPr lang="en-US" dirty="0"/>
                  <a:t>Prevents the sequence from getting trapped in smaller cycles</a:t>
                </a:r>
              </a:p>
              <a:p>
                <a:r>
                  <a:rPr lang="en-US" b="1" dirty="0"/>
                  <a:t>Example</a:t>
                </a:r>
              </a:p>
              <a:p>
                <a:r>
                  <a:rPr lang="en-US" dirty="0"/>
                  <a:t>Let: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𝑚=12=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2^2×3</a:t>
                </a:r>
                <a:endParaRPr lang="ar-AE" dirty="0"/>
              </a:p>
              <a:p>
                <a:r>
                  <a:rPr lang="en-US" dirty="0"/>
                  <a:t>Prime factors: 2 and 3</a:t>
                </a:r>
              </a:p>
              <a:p>
                <a:r>
                  <a:rPr lang="en-US" dirty="0"/>
                  <a:t>Choose: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𝑎=13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𝑎−1=12</a:t>
                </a:r>
                <a:endParaRPr lang="en-US" dirty="0"/>
              </a:p>
              <a:p>
                <a:r>
                  <a:rPr lang="en-US" dirty="0"/>
                  <a:t>✔ Divisible by both 2 and 3 → condition satisfied</a:t>
                </a:r>
              </a:p>
              <a:p>
                <a:r>
                  <a:rPr lang="en-US" dirty="0"/>
                  <a:t>But if: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𝑎=7⇒𝑎−1=6</a:t>
                </a:r>
                <a:endParaRPr lang="en-US" dirty="0"/>
              </a:p>
              <a:p>
                <a:r>
                  <a:rPr lang="en-US" dirty="0"/>
                  <a:t>✔ divisible by 2 and 3 → OK</a:t>
                </a:r>
              </a:p>
              <a:p>
                <a:r>
                  <a:rPr lang="en-US" dirty="0"/>
                  <a:t>If: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𝑎=5⇒𝑎−1=4</a:t>
                </a:r>
                <a:endParaRPr lang="en-US" dirty="0"/>
              </a:p>
              <a:p>
                <a:r>
                  <a:rPr lang="en-US" dirty="0"/>
                  <a:t>❌ divisible by 2 but </a:t>
                </a:r>
                <a:r>
                  <a:rPr lang="en-US" b="1" dirty="0"/>
                  <a:t>not by 3</a:t>
                </a:r>
                <a:endParaRPr lang="en-US" dirty="0"/>
              </a:p>
              <a:p>
                <a:r>
                  <a:rPr lang="en-US" dirty="0"/>
                  <a:t>➡ Maximum period not achieved</a:t>
                </a:r>
              </a:p>
              <a:p>
                <a:endParaRPr lang="en-US" dirty="0"/>
              </a:p>
              <a:p>
                <a:r>
                  <a:rPr lang="en-US" dirty="0"/>
                  <a:t>Hence, This condition ensures that the multiplier properly spans all residue classes modulo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3. </a:t>
                </a:r>
              </a:p>
              <a:p>
                <a:r>
                  <a:rPr lang="en-US" b="1" dirty="0"/>
                  <a:t>If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en-US" b="1" dirty="0"/>
                  <a:t>is a power of 2,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en-US" b="1" dirty="0"/>
                  <a:t>should not be congruent to 1 modulo 4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𝑎≢1 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mod 4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endParaRPr lang="ar-AE" dirty="0"/>
              </a:p>
              <a:p>
                <a:r>
                  <a:rPr lang="en-US" b="1" dirty="0"/>
                  <a:t>When does this apply?</a:t>
                </a:r>
              </a:p>
              <a:p>
                <a:r>
                  <a:rPr lang="en-US" dirty="0"/>
                  <a:t>Only when: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2^𝑘</a:t>
                </a:r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US" b="1" dirty="0"/>
                  <a:t>🔹 Why is this required?</a:t>
                </a:r>
              </a:p>
              <a:p>
                <a:r>
                  <a:rPr lang="en-US" dirty="0"/>
                  <a:t>Powers of 2 create </a:t>
                </a:r>
                <a:r>
                  <a:rPr lang="en-US" b="1" dirty="0"/>
                  <a:t>binary patterns</a:t>
                </a:r>
                <a:endParaRPr lang="en-US" dirty="0"/>
              </a:p>
              <a:p>
                <a:r>
                  <a:rPr lang="en-US" dirty="0"/>
                  <a:t>If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𝑎≡1 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mod 4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ar-AE" dirty="0"/>
                  <a:t>, </a:t>
                </a:r>
                <a:r>
                  <a:rPr lang="en-US" dirty="0"/>
                  <a:t>the sequence develops </a:t>
                </a:r>
                <a:r>
                  <a:rPr lang="en-US" b="1" dirty="0"/>
                  <a:t>strong correlations</a:t>
                </a:r>
                <a:endParaRPr lang="en-US" dirty="0"/>
              </a:p>
              <a:p>
                <a:r>
                  <a:rPr lang="en-US" dirty="0"/>
                  <a:t>Leads to </a:t>
                </a:r>
                <a:r>
                  <a:rPr lang="en-US" b="1" dirty="0"/>
                  <a:t>short cycles</a:t>
                </a:r>
                <a:r>
                  <a:rPr lang="en-US" dirty="0"/>
                  <a:t> and poor randomness</a:t>
                </a:r>
              </a:p>
              <a:p>
                <a:endParaRPr lang="en-US" dirty="0"/>
              </a:p>
              <a:p>
                <a:r>
                  <a:rPr lang="en-US" dirty="0"/>
                  <a:t>This condition prevents the LCG from behaving like: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𝑋_(𝑛+1)=𝑋_𝑛+𝑐</a:t>
                </a:r>
                <a:endParaRPr lang="ar-AE" dirty="0"/>
              </a:p>
              <a:p>
                <a:r>
                  <a:rPr lang="en-US" dirty="0"/>
                  <a:t>Which is almost a </a:t>
                </a:r>
                <a:r>
                  <a:rPr lang="en-US" b="1" dirty="0"/>
                  <a:t>simple counter</a:t>
                </a:r>
                <a:r>
                  <a:rPr lang="en-US" dirty="0"/>
                  <a:t>, not a random generator</a:t>
                </a:r>
              </a:p>
              <a:p>
                <a:endParaRPr lang="en-US" dirty="0"/>
              </a:p>
              <a:p>
                <a:r>
                  <a:rPr lang="en-US" b="1" dirty="0"/>
                  <a:t>Example</a:t>
                </a:r>
              </a:p>
              <a:p>
                <a:r>
                  <a:rPr lang="en-US" dirty="0"/>
                  <a:t>Let: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𝑚=16=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2^4</a:t>
                </a:r>
                <a:endParaRPr lang="ar-AE" dirty="0"/>
              </a:p>
              <a:p>
                <a:r>
                  <a:rPr lang="en-US" dirty="0"/>
                  <a:t>Bad choice: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𝑎=5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5≡1 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mod 4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endParaRPr lang="ar-AE" dirty="0"/>
              </a:p>
              <a:p>
                <a:r>
                  <a:rPr lang="en-US" dirty="0"/>
                  <a:t>❌ Not allowed</a:t>
                </a:r>
              </a:p>
              <a:p>
                <a:r>
                  <a:rPr lang="en-US" dirty="0"/>
                  <a:t>Good choices: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𝑎=3</a:t>
                </a:r>
                <a:r>
                  <a:rPr lang="en-US" dirty="0"/>
                  <a:t>→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3≡3 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mod 4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endParaRPr lang="ar-AE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𝑎=7</a:t>
                </a:r>
                <a:r>
                  <a:rPr lang="ar-AE" dirty="0"/>
                  <a:t>→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7≡3 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mod 4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endParaRPr lang="ar-AE" dirty="0"/>
              </a:p>
              <a:p>
                <a:r>
                  <a:rPr lang="ar-AE" dirty="0"/>
                  <a:t>✔ </a:t>
                </a:r>
                <a:r>
                  <a:rPr lang="en-US" dirty="0"/>
                  <a:t>Acceptable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Hence, This condition avoids degeneracy in LCGs when the modulus is a power of 2.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2673-5244-4A33-AD79-2636F6FBDD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55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Independence Tests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tests verify that random numbers do not exhibit patterns or dependencies.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Test: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Evaluates the randomness of the sequence by analyzing the number of runs (consecutive increases or decreases).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Checks if the number and distribution of runs align with what is expected in a truly random sequence.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Auto-Correlation Test: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Examines the correlation between random numbers separated by a fixed lag.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or no correlation indicates independence.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2673-5244-4A33-AD79-2636F6FBDDE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82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2ADD-D967-46F7-A032-D9CE26EF463D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10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9ECC-BE67-426C-B338-B0BAE2F2709F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09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0075-4EA9-48F3-B3F1-C3853C26F1C5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88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0206-061E-476C-A558-CC3D8883FC5D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89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02F8-B049-4AB0-9EF8-250C5ADCB1C4}" type="datetime1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9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E14F9-7B5B-43DC-88C6-68C64E63E10D}" type="datetime1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50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3D456-F4D8-44B4-8936-8A95BCF5AFCE}" type="datetime1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5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070E-9E00-40F8-8F54-CC21F9B1F325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13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9F451-D995-43B2-B461-ED945B2ED454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7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C1A1-26EE-4DF1-A118-E55E91751043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04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D952-AC09-4760-9B62-0E33D5D4A9DB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757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900C-0704-4F0A-8CDF-37BD03911E49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91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00FD6-A25D-42B4-8BA5-00F161C5FB75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8880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0FE6A-2E92-433A-9867-82F6123E0B18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61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2318-61E5-49E8-B20B-E6188C8E9A46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4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BA5A-1ECC-440B-8FE1-CA98CFEE0C02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5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394A2-5BEB-43BC-AA6F-34138F3881F6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FBE89C-B8F9-48A7-9263-0791E1FB6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3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62DB-633B-975C-B50A-8FC3A3B9B9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Probability Concepts and Random Number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1A1B4-DD2C-9CB9-A411-9E7159497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Kapil Dev Pant (5 </a:t>
            </a:r>
            <a:r>
              <a:rPr lang="en-US" dirty="0" err="1"/>
              <a:t>hrs</a:t>
            </a:r>
            <a:r>
              <a:rPr lang="en-US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031CBF-D76F-55A5-C6B8-9B07054B3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6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21E2-D6C1-0EBD-155F-DE9CCF74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BB7E5-A53F-FB60-EBD7-6B6AE807A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Probability Concepts in simulation-Stochastic variable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Discrete probability function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Continuous probability function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Random numbers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Properties of Random numbers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Pseudo-Random Numbers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Techniques for generation of Random numbers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Test for random number generation.</a:t>
            </a:r>
          </a:p>
          <a:p>
            <a:pPr marL="457200" marR="0">
              <a:lnSpc>
                <a:spcPct val="115000"/>
              </a:lnSpc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Uniformity Test (k-test and chi square test)</a:t>
            </a:r>
          </a:p>
          <a:p>
            <a:pPr marL="45720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Independency test (run test and Auto Correlation test)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F85DE-02CE-27FE-C7FE-2C60531FB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3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6343-0204-D94D-16F3-532F3EDA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Probability in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51258-878A-83B5-0900-8A7180261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771466" cy="4318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Probability: The measure of the likelihood that an event will occur</a:t>
            </a:r>
          </a:p>
          <a:p>
            <a:pPr marL="0" indent="0">
              <a:buNone/>
            </a:pPr>
            <a:r>
              <a:rPr lang="en-US" dirty="0"/>
              <a:t>It is expressed as a number between 0 and 1:</a:t>
            </a:r>
          </a:p>
          <a:p>
            <a:pPr lvl="1"/>
            <a:r>
              <a:rPr lang="en-US" dirty="0"/>
              <a:t>0 means the event is impossible.</a:t>
            </a:r>
          </a:p>
          <a:p>
            <a:pPr lvl="1"/>
            <a:r>
              <a:rPr lang="en-US" dirty="0"/>
              <a:t>1 means the event is certain.</a:t>
            </a:r>
          </a:p>
          <a:p>
            <a:r>
              <a:rPr lang="en-US" dirty="0"/>
              <a:t>Example: The probability of flipping a coin and getting heads is 0.5 (or 50%)..</a:t>
            </a:r>
          </a:p>
          <a:p>
            <a:pPr marL="0" indent="0">
              <a:buNone/>
            </a:pPr>
            <a:r>
              <a:rPr lang="en-US" dirty="0"/>
              <a:t>					Probability (P)  =  </a:t>
            </a:r>
            <a:r>
              <a:rPr lang="en-US" u="sng" dirty="0"/>
              <a:t>  Number of favorable outcomes      </a:t>
            </a:r>
          </a:p>
          <a:p>
            <a:pPr marL="0" indent="0">
              <a:buNone/>
            </a:pPr>
            <a:r>
              <a:rPr lang="en-US" dirty="0"/>
              <a:t>								    Total number of possible outcomes</a:t>
            </a:r>
          </a:p>
          <a:p>
            <a:pPr marL="0" indent="0">
              <a:buNone/>
            </a:pPr>
            <a:r>
              <a:rPr lang="en-US" dirty="0"/>
              <a:t>							​</a:t>
            </a:r>
          </a:p>
          <a:p>
            <a:r>
              <a:rPr lang="en-US" dirty="0"/>
              <a:t>Simulation: The process of mimicking real-world processes through mathematical models.</a:t>
            </a:r>
          </a:p>
          <a:p>
            <a:r>
              <a:rPr lang="en-US" dirty="0"/>
              <a:t>Importance in Simulation:</a:t>
            </a:r>
          </a:p>
          <a:p>
            <a:pPr lvl="1"/>
            <a:r>
              <a:rPr lang="en-US" dirty="0"/>
              <a:t>Used to model uncertainty.</a:t>
            </a:r>
          </a:p>
          <a:p>
            <a:pPr lvl="1"/>
            <a:r>
              <a:rPr lang="en-US" dirty="0"/>
              <a:t>Helps in predicting outcomes.</a:t>
            </a:r>
          </a:p>
          <a:p>
            <a:pPr lvl="1"/>
            <a:r>
              <a:rPr lang="en-US" dirty="0"/>
              <a:t>Enhances decision-making under uncertainty.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41582-A6ED-C6DF-CAED-1404BF0AC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3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B7A7E-10E5-81B4-C07A-3B40C508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Probability in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56BFF-161E-961A-0494-92E32360A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Fields of Application:</a:t>
            </a:r>
          </a:p>
          <a:p>
            <a:r>
              <a:rPr lang="en-US" dirty="0"/>
              <a:t>Business: Risk management.</a:t>
            </a:r>
          </a:p>
          <a:p>
            <a:r>
              <a:rPr lang="en-US" dirty="0"/>
              <a:t>Healthcare: Disease spread models.</a:t>
            </a:r>
          </a:p>
          <a:p>
            <a:r>
              <a:rPr lang="en-US" dirty="0"/>
              <a:t>Manufacturing: Process optimization.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FBB01-671E-D5F7-1529-7D2BCF0EF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63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B6467-5808-F8CB-55D5-666F483FF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08269-2130-002B-3749-8AC564643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stochastic variable (random variable) is a variable whose value is subject to variations due to randomness.</a:t>
            </a:r>
          </a:p>
          <a:p>
            <a:pPr marL="0" indent="0">
              <a:buNone/>
            </a:pPr>
            <a:r>
              <a:rPr lang="en-US" dirty="0"/>
              <a:t>Types:</a:t>
            </a:r>
          </a:p>
          <a:p>
            <a:r>
              <a:rPr lang="en-US" dirty="0"/>
              <a:t>Discrete Stochastic Variables: Take specific values (e.g., number of heads in a coin toss).</a:t>
            </a:r>
          </a:p>
          <a:p>
            <a:r>
              <a:rPr lang="en-US" dirty="0"/>
              <a:t>Continuous Stochastic Variables: Take any value within a range (e.g., temperature readings).</a:t>
            </a:r>
          </a:p>
          <a:p>
            <a:pPr marL="0" indent="0">
              <a:buNone/>
            </a:pPr>
            <a:r>
              <a:rPr lang="en-US" dirty="0"/>
              <a:t>Applications in Simulation:</a:t>
            </a:r>
          </a:p>
          <a:p>
            <a:r>
              <a:rPr lang="en-US" dirty="0"/>
              <a:t> Weather forecasting.</a:t>
            </a:r>
          </a:p>
          <a:p>
            <a:r>
              <a:rPr lang="en-US" dirty="0"/>
              <a:t> Risk analysis.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8239E-83B8-557F-1B37-1BB0B7201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03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34DF-DD95-2B95-46B0-E3D31093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Probability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7533B-0FC7-CD73-0B1B-2EC68DF5F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function that provides the probabilities of occurrence of different possible outcomes for a discrete random variable.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Tossing a fair coin:</a:t>
            </a:r>
          </a:p>
          <a:p>
            <a:pPr lvl="1"/>
            <a:r>
              <a:rPr lang="en-US" dirty="0"/>
              <a:t>Heads: 0.5</a:t>
            </a:r>
          </a:p>
          <a:p>
            <a:pPr lvl="1"/>
            <a:r>
              <a:rPr lang="en-US" dirty="0"/>
              <a:t>Tails: 0.5</a:t>
            </a:r>
          </a:p>
          <a:p>
            <a:pPr marL="0" indent="0">
              <a:buNone/>
            </a:pPr>
            <a:r>
              <a:rPr lang="en-US" dirty="0"/>
              <a:t>Key Properties:</a:t>
            </a:r>
          </a:p>
          <a:p>
            <a:r>
              <a:rPr lang="en-US" dirty="0"/>
              <a:t> Probabilities range from 0 to 1.</a:t>
            </a:r>
          </a:p>
          <a:p>
            <a:r>
              <a:rPr lang="en-US" dirty="0"/>
              <a:t> The sum of all probabilities is 1.</a:t>
            </a:r>
          </a:p>
          <a:p>
            <a:pPr marL="0" indent="0">
              <a:buNone/>
            </a:pPr>
            <a:r>
              <a:rPr lang="en-US" dirty="0"/>
              <a:t>Applications:</a:t>
            </a:r>
          </a:p>
          <a:p>
            <a:r>
              <a:rPr lang="en-US" dirty="0"/>
              <a:t> Inventory management.</a:t>
            </a:r>
          </a:p>
          <a:p>
            <a:r>
              <a:rPr lang="en-US" dirty="0"/>
              <a:t> Quality control.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CAA82-71CC-DD23-CFB8-CA260160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B65B6-3066-B95A-5F3F-0917DAD4BBE1}"/>
              </a:ext>
            </a:extLst>
          </p:cNvPr>
          <p:cNvSpPr txBox="1"/>
          <p:nvPr/>
        </p:nvSpPr>
        <p:spPr>
          <a:xfrm>
            <a:off x="4836582" y="2327870"/>
            <a:ext cx="66023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discrete probability function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gives the probability of each specific outcome of a discrete random variable.</a:t>
            </a:r>
          </a:p>
          <a:p>
            <a:pPr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It is called the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Probability Mass Function (PMF)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0A87E-6DC3-2DBB-B12E-59A63B172C46}"/>
              </a:ext>
            </a:extLst>
          </p:cNvPr>
          <p:cNvSpPr txBox="1"/>
          <p:nvPr/>
        </p:nvSpPr>
        <p:spPr>
          <a:xfrm>
            <a:off x="5080230" y="3481389"/>
            <a:ext cx="611505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Characteristics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Countable outcomes (finite or infinite)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Probability assigned to exact values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 of probabilities = 1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in queue arrivals, customer counts, defects, etc.</a:t>
            </a:r>
          </a:p>
          <a:p>
            <a:pPr>
              <a:buNone/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None/>
            </a:pPr>
            <a:r>
              <a:rPr lang="en-US" sz="17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Examples in Simulation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Number of customers arriving per hour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Number of system failures per day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Number of packets in a network</a:t>
            </a:r>
          </a:p>
        </p:txBody>
      </p:sp>
    </p:spTree>
    <p:extLst>
      <p:ext uri="{BB962C8B-B14F-4D97-AF65-F5344CB8AC3E}">
        <p14:creationId xmlns:p14="http://schemas.microsoft.com/office/powerpoint/2010/main" val="3955049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C3F25-B039-DD69-D622-C3D09D69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Probability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BFE40-9963-E6EA-04B6-70C7109EB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426786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function that describes the probability distribution of a continuous random variable.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 Normal distribution (bell curve).</a:t>
            </a:r>
          </a:p>
          <a:p>
            <a:pPr marL="0" indent="0">
              <a:buNone/>
            </a:pPr>
            <a:r>
              <a:rPr lang="en-US" dirty="0"/>
              <a:t>Key Properties:</a:t>
            </a:r>
          </a:p>
          <a:p>
            <a:r>
              <a:rPr lang="en-US" dirty="0"/>
              <a:t> The probability of any specific value is 0.</a:t>
            </a:r>
          </a:p>
          <a:p>
            <a:r>
              <a:rPr lang="en-US" dirty="0"/>
              <a:t> The total area under the curve equals 1.</a:t>
            </a:r>
          </a:p>
          <a:p>
            <a:pPr marL="0" indent="0">
              <a:buNone/>
            </a:pPr>
            <a:r>
              <a:rPr lang="en-US" dirty="0"/>
              <a:t>Applications:</a:t>
            </a:r>
          </a:p>
          <a:p>
            <a:r>
              <a:rPr lang="en-US" dirty="0"/>
              <a:t> Finance (stock prices).</a:t>
            </a:r>
          </a:p>
          <a:p>
            <a:r>
              <a:rPr lang="en-US" dirty="0"/>
              <a:t> Engineering (measurement errors).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C1AD7-982A-DCDA-F679-B25E46D22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A0D45-5ED0-5563-FFE3-400F3596050D}"/>
              </a:ext>
            </a:extLst>
          </p:cNvPr>
          <p:cNvSpPr txBox="1"/>
          <p:nvPr/>
        </p:nvSpPr>
        <p:spPr>
          <a:xfrm>
            <a:off x="5800725" y="2715981"/>
            <a:ext cx="6115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 continuous probability function describes probabilities over a continuous range of values.</a:t>
            </a:r>
          </a:p>
          <a:p>
            <a:pPr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It is called the Probability Density Function (PDF).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E2EAD7-474B-3A41-3201-6F92A2B6426E}"/>
                  </a:ext>
                </a:extLst>
              </p:cNvPr>
              <p:cNvSpPr txBox="1"/>
              <p:nvPr/>
            </p:nvSpPr>
            <p:spPr>
              <a:xfrm>
                <a:off x="5749290" y="4100975"/>
                <a:ext cx="6115050" cy="1350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For given f(x) </a:t>
                </a:r>
              </a:p>
              <a:p>
                <a:pPr>
                  <a:buNone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Probability is not at a point, but over an interval: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ar-AE" sz="20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</m:ctrlPr>
                        </m:dPr>
                        <m:e>
                          <m:r>
                            <a:rPr lang="ar-AE" sz="20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ar-AE" sz="20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ar-AE" sz="20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ar-AE" sz="20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ar-AE" sz="20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 lang="ar-AE" sz="20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ar-AE" sz="20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</m:ctrlPr>
                        </m:naryPr>
                        <m:sub>
                          <m:r>
                            <a:rPr lang="ar-AE" sz="20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sub>
                        <m:sup>
                          <m:r>
                            <a:rPr lang="ar-AE" sz="20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sup>
                        <m:e>
                          <m:r>
                            <a:rPr lang="ar-AE" sz="20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</m:nary>
                      <m:d>
                        <m:dPr>
                          <m:ctrlPr>
                            <a:rPr lang="ar-AE" sz="20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</m:ctrlPr>
                        </m:dPr>
                        <m:e>
                          <m:r>
                            <a:rPr lang="ar-AE" sz="20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m:rPr>
                          <m:nor/>
                        </m:rPr>
                        <a:rPr lang="ar-AE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m:t> </m:t>
                      </m:r>
                      <m:r>
                        <a:rPr lang="ar-AE" sz="2000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𝐝𝐱</m:t>
                      </m:r>
                    </m:oMath>
                  </m:oMathPara>
                </a14:m>
                <a:endParaRPr lang="ar-AE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E2EAD7-474B-3A41-3201-6F92A2B64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90" y="4100975"/>
                <a:ext cx="6115050" cy="1350498"/>
              </a:xfrm>
              <a:prstGeom prst="rect">
                <a:avLst/>
              </a:prstGeom>
              <a:blipFill>
                <a:blip r:embed="rId3"/>
                <a:stretch>
                  <a:fillRect l="-798" t="-3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746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0D0D9-5B3F-5CD2-105F-12F3B9136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90414-23A3-A28C-165A-15B63CFE7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Numbers generated in such a way that they cannot be predicted logically.</a:t>
            </a:r>
          </a:p>
          <a:p>
            <a:pPr marL="0" indent="0">
              <a:buNone/>
            </a:pPr>
            <a:r>
              <a:rPr lang="en-US" sz="2000" dirty="0"/>
              <a:t>Types:</a:t>
            </a:r>
          </a:p>
          <a:p>
            <a:r>
              <a:rPr lang="en-US" sz="2000" dirty="0"/>
              <a:t>True Random Numbers: Generated from physical processes (e.g., atmospheric noise).</a:t>
            </a:r>
          </a:p>
          <a:p>
            <a:r>
              <a:rPr lang="en-US" sz="2000" dirty="0"/>
              <a:t>Pseudo-Random Numbers: Generated by algorithms.</a:t>
            </a:r>
          </a:p>
          <a:p>
            <a:pPr marL="0" indent="0">
              <a:buNone/>
            </a:pPr>
            <a:r>
              <a:rPr lang="en-US" sz="2000" dirty="0"/>
              <a:t>Importance in Simulation:</a:t>
            </a:r>
          </a:p>
          <a:p>
            <a:r>
              <a:rPr lang="en-US" sz="2000" dirty="0"/>
              <a:t> Used to create randomness in models.</a:t>
            </a:r>
          </a:p>
          <a:p>
            <a:r>
              <a:rPr lang="en-US" sz="2000" dirty="0"/>
              <a:t> Helps in Monte Carlo simulations.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A6BB8-1B74-C4EA-8E40-E647C4720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11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00DC-155A-B89C-13E2-D97A0F02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Random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DBF05-4047-1CBF-FE32-64622F135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1.Uniform Distribution</a:t>
            </a:r>
          </a:p>
          <a:p>
            <a:pPr marL="0" indent="0">
              <a:buNone/>
            </a:pPr>
            <a:r>
              <a:rPr lang="en-US" b="1" dirty="0"/>
              <a:t>2.Independence</a:t>
            </a:r>
          </a:p>
          <a:p>
            <a:pPr marL="0" indent="0">
              <a:buNone/>
            </a:pPr>
            <a:r>
              <a:rPr lang="en-US" b="1" dirty="0"/>
              <a:t>3. Unpredictability</a:t>
            </a:r>
          </a:p>
          <a:p>
            <a:pPr marL="0" indent="0">
              <a:buNone/>
            </a:pPr>
            <a:r>
              <a:rPr lang="en-US" b="1" dirty="0"/>
              <a:t>4. Reproducibility</a:t>
            </a:r>
          </a:p>
          <a:p>
            <a:pPr marL="0" indent="0">
              <a:buNone/>
            </a:pPr>
            <a:r>
              <a:rPr lang="en-US" b="1" dirty="0"/>
              <a:t>5. Periodicity</a:t>
            </a:r>
          </a:p>
          <a:p>
            <a:pPr marL="0" indent="0">
              <a:buNone/>
            </a:pPr>
            <a:r>
              <a:rPr lang="en-US" b="1" dirty="0"/>
              <a:t>6. Scalability</a:t>
            </a:r>
          </a:p>
          <a:p>
            <a:pPr marL="0" indent="0">
              <a:buNone/>
            </a:pPr>
            <a:r>
              <a:rPr lang="en-US" b="1" dirty="0"/>
              <a:t>7. Randomness Tests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1E59F-AAD8-3CBA-C48F-8F6ABDAFD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49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0546-FE7B-10C5-191D-F4240115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 Random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C5D36-41A0-20BD-F4C6-5526E5FCD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638301"/>
            <a:ext cx="10134600" cy="4403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These are generated by deterministic algorithms that appear random but are not and are reproducible under the same conditions.</a:t>
            </a:r>
          </a:p>
          <a:p>
            <a:pPr marL="0" indent="0">
              <a:buNone/>
            </a:pPr>
            <a:r>
              <a:rPr lang="en-US" dirty="0"/>
              <a:t>Properties:</a:t>
            </a:r>
          </a:p>
          <a:p>
            <a:pPr>
              <a:buAutoNum type="arabicPeriod"/>
            </a:pPr>
            <a:r>
              <a:rPr lang="en-US" dirty="0"/>
              <a:t>Deterministic Nature :</a:t>
            </a:r>
          </a:p>
          <a:p>
            <a:pPr lvl="1">
              <a:buAutoNum type="arabicPeriod"/>
            </a:pPr>
            <a:r>
              <a:rPr lang="en-US" dirty="0"/>
              <a:t>Generated based on an initial value called the seed.</a:t>
            </a:r>
          </a:p>
          <a:p>
            <a:pPr lvl="1">
              <a:buAutoNum type="arabicPeriod"/>
            </a:pPr>
            <a:r>
              <a:rPr lang="en-US" dirty="0"/>
              <a:t>The same seed produces the same sequence of numbers.</a:t>
            </a:r>
          </a:p>
          <a:p>
            <a:pPr>
              <a:buAutoNum type="arabicPeriod"/>
            </a:pPr>
            <a:r>
              <a:rPr lang="en-US" dirty="0"/>
              <a:t>Efficiency: </a:t>
            </a:r>
          </a:p>
          <a:p>
            <a:pPr lvl="1">
              <a:buAutoNum type="arabicPeriod"/>
            </a:pPr>
            <a:r>
              <a:rPr lang="en-US" dirty="0"/>
              <a:t>Suitable for applications requiring large quantities of random numbers.</a:t>
            </a:r>
          </a:p>
          <a:p>
            <a:pPr>
              <a:buAutoNum type="arabicPeriod"/>
            </a:pPr>
            <a:r>
              <a:rPr lang="en-US" dirty="0"/>
              <a:t>Periodicity:</a:t>
            </a:r>
          </a:p>
          <a:p>
            <a:pPr lvl="1">
              <a:buAutoNum type="arabicPeriod"/>
            </a:pPr>
            <a:r>
              <a:rPr lang="en-US" dirty="0"/>
              <a:t>PRNGs have a finite sequence of numbers before they repeat, known as the </a:t>
            </a:r>
            <a:r>
              <a:rPr lang="en-US" b="1" dirty="0"/>
              <a:t>period</a:t>
            </a:r>
            <a:r>
              <a:rPr lang="en-US" dirty="0"/>
              <a:t>.</a:t>
            </a:r>
          </a:p>
          <a:p>
            <a:pPr lvl="1">
              <a:buAutoNum type="arabicPeriod"/>
            </a:pPr>
            <a:r>
              <a:rPr lang="en-US" dirty="0"/>
              <a:t>High-quality PRNGs have a very long period to minimize repetitions.</a:t>
            </a:r>
          </a:p>
          <a:p>
            <a:pPr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AE4433-4030-BA48-6E1D-0807DA0B5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07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DDF7-3AEC-250C-1318-ACE247422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BE648-CE35-4235-0C09-C489B3D6C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Simulations and modeling.</a:t>
            </a:r>
          </a:p>
          <a:p>
            <a:r>
              <a:rPr lang="en-US" dirty="0"/>
              <a:t>Gaming and random sampling.</a:t>
            </a:r>
          </a:p>
          <a:p>
            <a:r>
              <a:rPr lang="en-US" dirty="0"/>
              <a:t>Cryptography (with additional measures).</a:t>
            </a:r>
          </a:p>
          <a:p>
            <a:pPr marL="0" indent="0">
              <a:buNone/>
            </a:pPr>
            <a:r>
              <a:rPr lang="en-US" dirty="0"/>
              <a:t>Limitations</a:t>
            </a:r>
          </a:p>
          <a:p>
            <a:r>
              <a:rPr lang="en-US" dirty="0"/>
              <a:t>Not suitable for cryptographic applications without enhancements.</a:t>
            </a:r>
          </a:p>
          <a:p>
            <a:r>
              <a:rPr lang="en-US" dirty="0"/>
              <a:t>Patterns in sequences may cause biases in statistical uses.</a:t>
            </a:r>
          </a:p>
          <a:p>
            <a:pPr marL="0" indent="0">
              <a:buNone/>
            </a:pPr>
            <a:r>
              <a:rPr lang="en-US" dirty="0"/>
              <a:t>Algorithms</a:t>
            </a:r>
          </a:p>
          <a:p>
            <a:r>
              <a:rPr lang="en-US" dirty="0"/>
              <a:t>Linear Congruential Generator (LCG): Simple and widely used.</a:t>
            </a:r>
          </a:p>
          <a:p>
            <a:r>
              <a:rPr lang="en-US" dirty="0"/>
              <a:t>Combined Linear Congruential Generator (LCG):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E9CE82-6AF5-A738-E9C3-62ED0B0EE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46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6AD2-E9BD-3582-0DE8-D91DA9DB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Random Numbers in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F630E-5332-FC20-5AAD-E63C581C2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Techniques:</a:t>
            </a:r>
          </a:p>
          <a:p>
            <a:r>
              <a:rPr lang="en-US" dirty="0"/>
              <a:t> Linear Congruential Method.</a:t>
            </a:r>
          </a:p>
          <a:p>
            <a:r>
              <a:rPr lang="en-US" dirty="0"/>
              <a:t>Combined Linear Congruential Generators.</a:t>
            </a:r>
          </a:p>
          <a:p>
            <a:pPr marL="0" indent="0">
              <a:buNone/>
            </a:pPr>
            <a:r>
              <a:rPr lang="en-US" dirty="0"/>
              <a:t>Challenges:</a:t>
            </a:r>
          </a:p>
          <a:p>
            <a:r>
              <a:rPr lang="en-US" dirty="0"/>
              <a:t> Ensuring randomness.</a:t>
            </a:r>
          </a:p>
          <a:p>
            <a:r>
              <a:rPr lang="en-US" dirty="0"/>
              <a:t> Avoiding repetition.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614BC-E98A-476D-69C9-4C00B99C9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03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12F5C-672A-59B2-B2A5-7FC82579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Congruential Method.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3C886-CEBE-FDE1-6122-8E076237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Xn+1​=(a </a:t>
            </a:r>
            <a:r>
              <a:rPr lang="en-US" dirty="0" err="1"/>
              <a:t>Xn</a:t>
            </a:r>
            <a:r>
              <a:rPr lang="en-US" dirty="0"/>
              <a:t>​+c) mod m</a:t>
            </a:r>
          </a:p>
          <a:p>
            <a:r>
              <a:rPr lang="en-US" dirty="0"/>
              <a:t>Where:</a:t>
            </a:r>
          </a:p>
          <a:p>
            <a:pPr marL="400050" lvl="1" indent="0" fontAlgn="base">
              <a:buFont typeface="Wingdings 3" charset="2"/>
              <a:buChar char="•"/>
            </a:pPr>
            <a:r>
              <a:rPr lang="en-US" altLang="en-US" sz="1800" dirty="0"/>
              <a:t>X0​: Initial seed (starting point)</a:t>
            </a:r>
          </a:p>
          <a:p>
            <a:pPr marL="400050" lvl="1" indent="0" fontAlgn="base">
              <a:buFont typeface="Wingdings 3" charset="2"/>
              <a:buChar char="•"/>
            </a:pPr>
            <a:r>
              <a:rPr lang="en-US" altLang="en-US" sz="1800" dirty="0"/>
              <a:t>a: Multiplier</a:t>
            </a:r>
          </a:p>
          <a:p>
            <a:pPr marL="400050" lvl="1" indent="0" fontAlgn="base">
              <a:buFont typeface="Wingdings 3" charset="2"/>
              <a:buChar char="•"/>
            </a:pPr>
            <a:r>
              <a:rPr lang="en-US" altLang="en-US" sz="1800" dirty="0"/>
              <a:t>c: Increment   if c= 0. multiplicative lcm, if c !=0 , mixed lcm</a:t>
            </a:r>
          </a:p>
          <a:p>
            <a:pPr marL="400050" lvl="1" indent="0" fontAlgn="base">
              <a:buFont typeface="Wingdings 3" charset="2"/>
              <a:buChar char="•"/>
            </a:pPr>
            <a:r>
              <a:rPr lang="en-US" altLang="en-US" sz="1800" dirty="0"/>
              <a:t>m: Modulus</a:t>
            </a:r>
          </a:p>
          <a:p>
            <a:pPr marL="400050" lvl="1" indent="0" fontAlgn="base">
              <a:buFont typeface="Wingdings 3" charset="2"/>
              <a:buChar char="•"/>
            </a:pPr>
            <a:r>
              <a:rPr lang="en-US" altLang="en-US" sz="1800" dirty="0"/>
              <a:t>Xn+1​: Next random number in the sequence</a:t>
            </a:r>
          </a:p>
          <a:p>
            <a:pPr>
              <a:buNone/>
            </a:pPr>
            <a:r>
              <a:rPr lang="en-US" altLang="en-US" dirty="0"/>
              <a:t>The values of a, c, and m control the randomness and cycle length of the generated numbers.</a:t>
            </a:r>
          </a:p>
          <a:p>
            <a:r>
              <a:rPr lang="en-US" dirty="0"/>
              <a:t>To get a random number in the interval [0,1), use:</a:t>
            </a:r>
          </a:p>
          <a:p>
            <a:pPr>
              <a:buNone/>
            </a:pPr>
            <a:r>
              <a:rPr lang="en-US" dirty="0"/>
              <a:t>				Rn= </a:t>
            </a:r>
            <a:r>
              <a:rPr lang="en-US" dirty="0" err="1"/>
              <a:t>Xn</a:t>
            </a:r>
            <a:r>
              <a:rPr lang="en-US" dirty="0"/>
              <a:t>/m​​ 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9C3F0-4521-3ADC-BCE0-A947D202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55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3A10-6D6B-072A-33A8-2EBF6110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015C-A2A2-7C57-3CFB-E6E041986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3" charset="2"/>
              <a:buAutoNum type="arabicPeriod"/>
            </a:pPr>
            <a:r>
              <a:rPr lang="en-US" dirty="0"/>
              <a:t>Seed (X₀): Initial value that starts the random sequence.</a:t>
            </a:r>
          </a:p>
          <a:p>
            <a:pPr>
              <a:buFont typeface="Wingdings 3" charset="2"/>
              <a:buAutoNum type="arabicPeriod"/>
            </a:pPr>
            <a:r>
              <a:rPr lang="en-US" dirty="0"/>
              <a:t>Multiplier (a): Determines how each number influences the next.</a:t>
            </a:r>
          </a:p>
          <a:p>
            <a:pPr>
              <a:buFont typeface="Wingdings 3" charset="2"/>
              <a:buAutoNum type="arabicPeriod"/>
            </a:pPr>
            <a:r>
              <a:rPr lang="en-US" dirty="0"/>
              <a:t>Increment (c): A constant added in each iteration (optional, for non-homogeneous generators).</a:t>
            </a:r>
          </a:p>
          <a:p>
            <a:pPr>
              <a:buFont typeface="Wingdings 3" charset="2"/>
              <a:buAutoNum type="arabicPeriod"/>
            </a:pPr>
            <a:r>
              <a:rPr lang="en-US" dirty="0"/>
              <a:t>Modulus (m): Determines the range of values the random numbers can take.</a:t>
            </a:r>
          </a:p>
          <a:p>
            <a:r>
              <a:rPr lang="en-US" dirty="0"/>
              <a:t>Note: Good parameter choices are crucial to ensure long periods and good randomness.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C3E6D-74EB-197E-8278-86A07586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12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4B27-CE70-DCE0-F824-5F7D9212D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EBD3-59D3-5C82-501F-04B6D8EE9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3" charset="2"/>
              <a:buNone/>
            </a:pPr>
            <a:r>
              <a:rPr lang="en-US" dirty="0"/>
              <a:t>Given values:</a:t>
            </a:r>
          </a:p>
          <a:p>
            <a:pPr>
              <a:buFont typeface="Wingdings 3" charset="2"/>
              <a:buChar char="•"/>
            </a:pPr>
            <a:r>
              <a:rPr lang="en-US" dirty="0"/>
              <a:t>X0=1 , a=5,  c=1,  m=16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Generate few values</a:t>
            </a:r>
          </a:p>
          <a:p>
            <a:pPr marL="400050" lvl="1" indent="0" fontAlgn="base">
              <a:buFont typeface="Wingdings 3" charset="2"/>
              <a:buChar char="•"/>
            </a:pPr>
            <a:r>
              <a:rPr lang="en-US" altLang="en-US" sz="1800" dirty="0"/>
              <a:t>X1​=(5×1+1)mod16=6</a:t>
            </a:r>
          </a:p>
          <a:p>
            <a:pPr marL="400050" lvl="1" indent="0" fontAlgn="base">
              <a:buFont typeface="Wingdings 3" charset="2"/>
              <a:buChar char="•"/>
            </a:pPr>
            <a:r>
              <a:rPr lang="en-US" altLang="en-US" sz="1800" dirty="0"/>
              <a:t>X2=(5×6+1)mod  16=15</a:t>
            </a:r>
          </a:p>
          <a:p>
            <a:pPr marL="400050" lvl="1" indent="0" fontAlgn="base">
              <a:buFont typeface="Wingdings 3" charset="2"/>
              <a:buChar char="•"/>
            </a:pPr>
            <a:r>
              <a:rPr lang="en-US" altLang="en-US" sz="1800" dirty="0"/>
              <a:t>X3=(5×15+1)mod  16=12</a:t>
            </a:r>
          </a:p>
          <a:p>
            <a:pPr marL="400050" lvl="1" indent="0" fontAlgn="base">
              <a:buFont typeface="Wingdings 3" charset="2"/>
              <a:buChar char="•"/>
            </a:pPr>
            <a:r>
              <a:rPr lang="en-US" altLang="en-US" sz="1800" dirty="0"/>
              <a:t>X4=(5×12+1)mod  16=13</a:t>
            </a:r>
          </a:p>
          <a:p>
            <a:pPr marL="400050" lvl="1" indent="0" fontAlgn="base">
              <a:buNone/>
            </a:pPr>
            <a:r>
              <a:rPr lang="en-US" altLang="en-US" sz="1800" dirty="0"/>
              <a:t> (</a:t>
            </a:r>
            <a:r>
              <a:rPr lang="en-US" altLang="en-US" sz="1800"/>
              <a:t>do till Cycle </a:t>
            </a:r>
            <a:r>
              <a:rPr lang="en-US" altLang="en-US" sz="1800" dirty="0"/>
              <a:t>repeats)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8F84E-4DC9-C998-5B09-D13D45F19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24E0F-6B84-EE09-2AFD-9C200112D9E7}"/>
              </a:ext>
            </a:extLst>
          </p:cNvPr>
          <p:cNvSpPr txBox="1"/>
          <p:nvPr/>
        </p:nvSpPr>
        <p:spPr>
          <a:xfrm>
            <a:off x="7429500" y="2537460"/>
            <a:ext cx="8162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DIY</a:t>
            </a:r>
          </a:p>
          <a:p>
            <a:r>
              <a:rPr lang="en-US" dirty="0"/>
              <a:t>M= 8</a:t>
            </a:r>
          </a:p>
          <a:p>
            <a:r>
              <a:rPr lang="en-US" dirty="0"/>
              <a:t>A = 5</a:t>
            </a:r>
          </a:p>
          <a:p>
            <a:r>
              <a:rPr lang="en-US" dirty="0"/>
              <a:t>C= 3</a:t>
            </a:r>
          </a:p>
          <a:p>
            <a:r>
              <a:rPr lang="en-US" dirty="0"/>
              <a:t>X0 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AD775-9F5F-FD12-4794-4837EDD3926B}"/>
              </a:ext>
            </a:extLst>
          </p:cNvPr>
          <p:cNvSpPr txBox="1"/>
          <p:nvPr/>
        </p:nvSpPr>
        <p:spPr>
          <a:xfrm>
            <a:off x="8674699" y="2537460"/>
            <a:ext cx="8162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DIY</a:t>
            </a:r>
          </a:p>
          <a:p>
            <a:r>
              <a:rPr lang="en-US" dirty="0"/>
              <a:t>M= 16</a:t>
            </a:r>
          </a:p>
          <a:p>
            <a:r>
              <a:rPr lang="en-US" dirty="0"/>
              <a:t>A = 5</a:t>
            </a:r>
          </a:p>
          <a:p>
            <a:r>
              <a:rPr lang="en-US" dirty="0"/>
              <a:t>C= 1</a:t>
            </a:r>
          </a:p>
          <a:p>
            <a:r>
              <a:rPr lang="en-US" dirty="0"/>
              <a:t>X0 = 0</a:t>
            </a:r>
          </a:p>
        </p:txBody>
      </p:sp>
    </p:spTree>
    <p:extLst>
      <p:ext uri="{BB962C8B-B14F-4D97-AF65-F5344CB8AC3E}">
        <p14:creationId xmlns:p14="http://schemas.microsoft.com/office/powerpoint/2010/main" val="759344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89F8-C19B-6C55-960B-44583D8B5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FA1F80-07E7-5F11-0CB2-322C6D1551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156853"/>
            <a:ext cx="10160154" cy="3888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altLang="en-US" dirty="0"/>
              <a:t>Period: The number of values before the sequence starts repeating.</a:t>
            </a:r>
          </a:p>
          <a:p>
            <a:pPr fontAlgn="base"/>
            <a:r>
              <a:rPr lang="en-US" altLang="en-US" dirty="0"/>
              <a:t>The length of the period is constrained by the modulus m, but it's not always m.</a:t>
            </a:r>
          </a:p>
          <a:p>
            <a:pPr fontAlgn="base"/>
            <a:r>
              <a:rPr lang="en-US" altLang="en-US" dirty="0"/>
              <a:t>Proper selection of parameters ensures the sequence has a long period.</a:t>
            </a:r>
          </a:p>
          <a:p>
            <a:pPr fontAlgn="base"/>
            <a:r>
              <a:rPr lang="en-US" altLang="en-US" dirty="0"/>
              <a:t>Example: In the previous slide, the sequence repeats after 4 steps.</a:t>
            </a:r>
          </a:p>
          <a:p>
            <a:pPr fontAlgn="base"/>
            <a:r>
              <a:rPr lang="en-US" altLang="en-US" dirty="0"/>
              <a:t>Maximizing Periodicity:</a:t>
            </a:r>
          </a:p>
          <a:p>
            <a:pPr fontAlgn="base"/>
            <a:r>
              <a:rPr lang="en-US" altLang="en-US" dirty="0"/>
              <a:t>For maximum period, the following conditions are recommended:</a:t>
            </a:r>
          </a:p>
          <a:p>
            <a:pPr lvl="1" fontAlgn="base"/>
            <a:r>
              <a:rPr lang="en-US" altLang="en-US" sz="1800" dirty="0"/>
              <a:t>c and m should be coprime (</a:t>
            </a:r>
            <a:r>
              <a:rPr lang="en-US" altLang="en-US" sz="1800" dirty="0" err="1"/>
              <a:t>gcd</a:t>
            </a:r>
            <a:r>
              <a:rPr lang="en-US" altLang="en-US" sz="1800" dirty="0"/>
              <a:t>(c, m) = 1). </a:t>
            </a:r>
            <a:r>
              <a:rPr lang="en-US" altLang="en-US" sz="1800" dirty="0">
                <a:sym typeface="Wingdings" panose="05000000000000000000" pitchFamily="2" charset="2"/>
              </a:rPr>
              <a:t> ensures full traversal of state </a:t>
            </a:r>
            <a:r>
              <a:rPr lang="en-US" altLang="en-US" sz="1800" dirty="0" err="1">
                <a:sym typeface="Wingdings" panose="05000000000000000000" pitchFamily="2" charset="2"/>
              </a:rPr>
              <a:t>sspace</a:t>
            </a:r>
            <a:endParaRPr lang="en-US" altLang="en-US" sz="1800" dirty="0"/>
          </a:p>
          <a:p>
            <a:pPr lvl="1" fontAlgn="base"/>
            <a:r>
              <a:rPr lang="en-US" altLang="en-US" sz="1800" dirty="0"/>
              <a:t>a−1 should be divisible by all prime factors of m. </a:t>
            </a:r>
            <a:r>
              <a:rPr lang="en-US" altLang="en-US" sz="1800" dirty="0">
                <a:sym typeface="Wingdings" panose="05000000000000000000" pitchFamily="2" charset="2"/>
              </a:rPr>
              <a:t> prevents smaller cycles</a:t>
            </a:r>
            <a:endParaRPr lang="en-US" altLang="en-US" sz="1800" dirty="0"/>
          </a:p>
          <a:p>
            <a:pPr lvl="1" fontAlgn="base"/>
            <a:r>
              <a:rPr lang="en-US" altLang="en-US" sz="1800" dirty="0"/>
              <a:t>a should not be congruent to 1 modulo 4 if m is a power of 2 </a:t>
            </a:r>
            <a:r>
              <a:rPr lang="en-US" altLang="en-US" sz="1800" dirty="0">
                <a:sym typeface="Wingdings" panose="05000000000000000000" pitchFamily="2" charset="2"/>
              </a:rPr>
              <a:t> avoids binary correlation</a:t>
            </a:r>
            <a:endParaRPr lang="en-US" altLang="en-US" sz="18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2FC29E-FF29-9993-99CD-78373CC2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4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5DA6-E5E7-668E-4C41-004B0BFA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 and Weakness of LCG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BE16-1744-141D-74E1-92C23E483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8"/>
            <a:ext cx="9342966" cy="4449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Strengths of LCG</a:t>
            </a:r>
          </a:p>
          <a:p>
            <a:pPr lvl="1"/>
            <a:r>
              <a:rPr lang="en-US" sz="1800" dirty="0"/>
              <a:t>Simple and Fast: LCG is computationally efficient and easy to implement.</a:t>
            </a:r>
          </a:p>
          <a:p>
            <a:pPr lvl="1"/>
            <a:r>
              <a:rPr lang="en-US" sz="1800" dirty="0"/>
              <a:t>Deterministic: Given the same seed, it always generates the same sequence.</a:t>
            </a:r>
          </a:p>
          <a:p>
            <a:pPr lvl="1"/>
            <a:r>
              <a:rPr lang="en-US" sz="1800" dirty="0"/>
              <a:t>Widely Used: LCG is the basis for many modern random number generators.</a:t>
            </a:r>
          </a:p>
          <a:p>
            <a:pPr marL="0" indent="0">
              <a:buNone/>
            </a:pPr>
            <a:r>
              <a:rPr lang="en-US" b="1" dirty="0"/>
              <a:t>Weaknesses of LCG</a:t>
            </a:r>
          </a:p>
          <a:p>
            <a:pPr lvl="1"/>
            <a:r>
              <a:rPr lang="en-US" sz="1800" dirty="0"/>
              <a:t>Periodicity Issues: If parameters are poorly chosen, the sequence can have a short period or poor randomness.</a:t>
            </a:r>
          </a:p>
          <a:p>
            <a:pPr lvl="1"/>
            <a:r>
              <a:rPr lang="en-US" sz="1800" dirty="0"/>
              <a:t>Patterns and Correlation: Poorly chosen parameters may result in visible patterns.</a:t>
            </a:r>
          </a:p>
          <a:p>
            <a:pPr lvl="1"/>
            <a:r>
              <a:rPr lang="en-US" sz="1800" dirty="0"/>
              <a:t>Not Cryptographically Secure: Not suitable for cryptographic purposes due to predictability.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DFDD0-3873-09FA-AF95-C5E6C112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0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698F-1CC6-071B-8D6D-D178DDCEA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Applications of Linear Congruential Generators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9345E-DE84-746C-70B9-DC656E818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 3" charset="2"/>
              <a:buAutoNum type="arabicPeriod"/>
            </a:pPr>
            <a:r>
              <a:rPr lang="en-US" sz="1700" dirty="0"/>
              <a:t>Monte Carlo Simulations: Used in simulations for statistical analysis.</a:t>
            </a:r>
          </a:p>
          <a:p>
            <a:pPr>
              <a:lnSpc>
                <a:spcPct val="90000"/>
              </a:lnSpc>
              <a:buFont typeface="Wingdings 3" charset="2"/>
              <a:buAutoNum type="arabicPeriod"/>
            </a:pPr>
            <a:r>
              <a:rPr lang="en-US" sz="1700" dirty="0"/>
              <a:t>Game Development: Random events and procedural generation in video games.</a:t>
            </a:r>
          </a:p>
          <a:p>
            <a:pPr>
              <a:lnSpc>
                <a:spcPct val="90000"/>
              </a:lnSpc>
              <a:buFont typeface="Wingdings 3" charset="2"/>
              <a:buAutoNum type="arabicPeriod"/>
            </a:pPr>
            <a:r>
              <a:rPr lang="en-US" sz="1700" dirty="0"/>
              <a:t>Cryptography: Although not secure, it's sometimes used in non-sensitive applications.</a:t>
            </a:r>
          </a:p>
          <a:p>
            <a:pPr>
              <a:lnSpc>
                <a:spcPct val="90000"/>
              </a:lnSpc>
              <a:buFont typeface="Wingdings 3" charset="2"/>
              <a:buAutoNum type="arabicPeriod"/>
            </a:pPr>
            <a:r>
              <a:rPr lang="en-US" sz="1700" dirty="0"/>
              <a:t>Testing and Benchmarking: Randomized tests in algorithm development.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25B7C-A3EE-A802-4E52-AAC8001CD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365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86EC3-C0F0-4C88-D7FC-B3D8C33B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Combined Linear Congruential Generators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EEDF9-D696-B68B-A0C6-6EFEEDE99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r>
              <a:rPr lang="en-US" sz="2000" dirty="0"/>
              <a:t>What is the Combined Linear Congruential Generator (CLCG)?</a:t>
            </a:r>
          </a:p>
          <a:p>
            <a:pPr lvl="1"/>
            <a:r>
              <a:rPr lang="en-US" sz="1800" dirty="0"/>
              <a:t>A method to enhance the randomness of pseudorandom number generation.</a:t>
            </a:r>
          </a:p>
          <a:p>
            <a:pPr lvl="1"/>
            <a:r>
              <a:rPr lang="en-US" sz="1800" dirty="0"/>
              <a:t>Combines two or more LCGs to create a more robust generator.</a:t>
            </a:r>
          </a:p>
          <a:p>
            <a:r>
              <a:rPr lang="en-US" sz="2000" dirty="0"/>
              <a:t>Motivation for Combination:</a:t>
            </a:r>
          </a:p>
          <a:p>
            <a:pPr lvl="1"/>
            <a:r>
              <a:rPr lang="en-US" sz="1800" dirty="0"/>
              <a:t>A single LCG might produce numbers with undesirable correlations or short periods.</a:t>
            </a:r>
          </a:p>
          <a:p>
            <a:pPr lvl="1"/>
            <a:r>
              <a:rPr lang="en-US" sz="1800" dirty="0"/>
              <a:t>Combining LCGs mitigates these weaknesses by introducing diversity in the random sequences.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4A605-94A7-9F65-51ED-E41679CE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1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12CF2-6D6E-763D-4483-ACE601A2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7AB21-2A81-0C83-0F30-15484035E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Suppose we have two LCGs:</a:t>
            </a:r>
          </a:p>
          <a:p>
            <a:r>
              <a:rPr lang="en-US" dirty="0"/>
              <a:t>LCG 1: 𝑋𝑛+1(1)=(𝑎1𝑋𝑛(1)+𝑐1)mod  𝑚1   ​ </a:t>
            </a:r>
          </a:p>
          <a:p>
            <a:r>
              <a:rPr lang="en-US" dirty="0"/>
              <a:t>LCG 2: 𝑋𝑛+1(2)=(𝑎2𝑋𝑛(2)+𝑐2)mod  𝑚2​</a:t>
            </a:r>
          </a:p>
          <a:p>
            <a:pPr marL="0" indent="0">
              <a:buNone/>
            </a:pPr>
            <a:r>
              <a:rPr lang="en-US" dirty="0"/>
              <a:t>Combining the Outputs:</a:t>
            </a:r>
          </a:p>
          <a:p>
            <a:r>
              <a:rPr lang="en-US" dirty="0"/>
              <a:t>There are various ways to combine the outputs, such as:</a:t>
            </a:r>
          </a:p>
          <a:p>
            <a:pPr lvl="1"/>
            <a:r>
              <a:rPr lang="en-US" dirty="0"/>
              <a:t>Addition</a:t>
            </a:r>
          </a:p>
          <a:p>
            <a:pPr lvl="1"/>
            <a:r>
              <a:rPr lang="en-US" dirty="0"/>
              <a:t>XOR (exclusive OR) ​</a:t>
            </a:r>
          </a:p>
          <a:p>
            <a:pPr lvl="1"/>
            <a:r>
              <a:rPr lang="en-US" dirty="0"/>
              <a:t>Weighted Average​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9C747-482D-27F7-C1F1-9FCDC027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58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6D73-8359-21DD-8CAD-805FECE72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Combine LCGs?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F8F1A-B455-148D-9468-5F7B4AF4A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Improve Randomness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By combining multiple LCGs, we reduce the likelihood of correlations between the numbers generated by a single LCG.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Increase Periodicity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period of the combined generator can be significantly longer than the periods of individual LCGs.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Reduce Patterns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combination helps avoid predictable patterns, which can arise in a single LCG sequence.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54EE9-4AEF-4946-C0BB-43B5C6FF6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13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5CDD1-3F75-F053-7AF3-A2567737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Periodicity of CLCG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30712-312C-EA2E-C72C-895C67C55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period of the combined generator is influenced by the periods of the individual LCGs.</a:t>
            </a:r>
          </a:p>
          <a:p>
            <a:pPr lvl="1"/>
            <a:r>
              <a:rPr lang="en-US" dirty="0"/>
              <a:t>If the individual periods are coprime, the period of the combined sequence can be the least common multiple (LCM) of the individual periods.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If LCG 1 has a period of 4 and LCG 2 has a period of 5, the combined period will be LCM(4,5)=20.</a:t>
            </a:r>
          </a:p>
          <a:p>
            <a:r>
              <a:rPr lang="en-US" dirty="0"/>
              <a:t>Maximizing Periodicity:</a:t>
            </a:r>
          </a:p>
          <a:p>
            <a:pPr lvl="1"/>
            <a:r>
              <a:rPr lang="en-US" dirty="0"/>
              <a:t>Choosing parameters for LCGs that are coprime helps maximize the period of the combined generator.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A9D22B-147A-EF73-D856-CBCC3A8D1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33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58008-D55D-E483-08A5-2BCB1BEFB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F2907-642D-043F-C780-C3C49B1E4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7180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Advantages:</a:t>
            </a:r>
          </a:p>
          <a:p>
            <a:r>
              <a:rPr lang="en-US" dirty="0"/>
              <a:t>Enhanced Randomness: The combined output is less likely to exhibit patterns or correlations compared to a single LCG.</a:t>
            </a:r>
          </a:p>
          <a:p>
            <a:r>
              <a:rPr lang="en-US" dirty="0"/>
              <a:t>Longer Period: The periods of the individual LCGs can combine to create a longer overall period.</a:t>
            </a:r>
          </a:p>
          <a:p>
            <a:r>
              <a:rPr lang="en-US" dirty="0"/>
              <a:t>Flexibility: By using different modulus, multipliers, and increments for each LCG, the generator can be tailored to specific requirements.</a:t>
            </a:r>
          </a:p>
          <a:p>
            <a:pPr marL="0" indent="0">
              <a:buNone/>
            </a:pPr>
            <a:r>
              <a:rPr lang="en-US" dirty="0"/>
              <a:t>Disadvantages</a:t>
            </a:r>
          </a:p>
          <a:p>
            <a:r>
              <a:rPr lang="en-US" dirty="0"/>
              <a:t>Complexity: Implementing a combined LCG is more complex than using a single LCG.</a:t>
            </a:r>
          </a:p>
          <a:p>
            <a:r>
              <a:rPr lang="en-US" dirty="0"/>
              <a:t>Resource Intensive: Requires more computation and memory due to the need for maintaining multiple generators.</a:t>
            </a:r>
          </a:p>
          <a:p>
            <a:r>
              <a:rPr lang="en-US" dirty="0"/>
              <a:t>Not Cryptographically Secure: Like individual LCGs, the combined LCG may still be predictable if the parameters are known.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D369A-3ADB-08F4-4CC0-524E530D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34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B14EC-31C7-1F5B-5B02-863A5093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2BB47-6C36-565F-E773-59E2FF74B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r>
              <a:rPr lang="en-US" dirty="0"/>
              <a:t>Mersenne Twister</a:t>
            </a:r>
          </a:p>
          <a:p>
            <a:r>
              <a:rPr lang="en-US" dirty="0"/>
              <a:t>XORSHIFT</a:t>
            </a:r>
          </a:p>
          <a:p>
            <a:pPr marL="0" indent="0" algn="ctr">
              <a:buNone/>
            </a:pPr>
            <a:r>
              <a:rPr lang="en-US" b="1" u="sng" dirty="0"/>
              <a:t>Comparison?</a:t>
            </a:r>
          </a:p>
          <a:p>
            <a:pPr marL="0" indent="0">
              <a:buNone/>
            </a:pPr>
            <a:r>
              <a:rPr lang="en-US" dirty="0"/>
              <a:t>Combined LCG vs. Mersenne Twister:</a:t>
            </a:r>
          </a:p>
          <a:p>
            <a:pPr lvl="1"/>
            <a:r>
              <a:rPr lang="en-US" dirty="0"/>
              <a:t>Mersenne Twister provides better statistical properties and a very long period.</a:t>
            </a:r>
          </a:p>
          <a:p>
            <a:pPr lvl="1"/>
            <a:r>
              <a:rPr lang="en-US" dirty="0"/>
              <a:t>Combined LCG offers simplicity and faster computations but may not match Mersenne Twister in randomness.</a:t>
            </a:r>
          </a:p>
          <a:p>
            <a:pPr marL="0" indent="0">
              <a:buNone/>
            </a:pPr>
            <a:r>
              <a:rPr lang="en-US" dirty="0"/>
              <a:t>Combined LCG vs. XORSHIFT:</a:t>
            </a:r>
          </a:p>
          <a:p>
            <a:pPr lvl="1"/>
            <a:r>
              <a:rPr lang="en-US" dirty="0" err="1"/>
              <a:t>Xorshift</a:t>
            </a:r>
            <a:r>
              <a:rPr lang="en-US" dirty="0"/>
              <a:t> is often faster and can offer good randomness, but combining LCGs can offer a simpler implementation with certain benefits in specific use cases.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6E483-9F1E-268A-916F-CD5AD8A1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01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F3E3-8522-267D-E134-BB38BA545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1E774EC-4132-82E6-45FF-8C7B4CADA0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542424"/>
              </p:ext>
            </p:extLst>
          </p:nvPr>
        </p:nvGraphicFramePr>
        <p:xfrm>
          <a:off x="811212" y="1511300"/>
          <a:ext cx="8904285" cy="4889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857">
                  <a:extLst>
                    <a:ext uri="{9D8B030D-6E8A-4147-A177-3AD203B41FA5}">
                      <a16:colId xmlns:a16="http://schemas.microsoft.com/office/drawing/2014/main" val="2318429986"/>
                    </a:ext>
                  </a:extLst>
                </a:gridCol>
                <a:gridCol w="1780857">
                  <a:extLst>
                    <a:ext uri="{9D8B030D-6E8A-4147-A177-3AD203B41FA5}">
                      <a16:colId xmlns:a16="http://schemas.microsoft.com/office/drawing/2014/main" val="3377933987"/>
                    </a:ext>
                  </a:extLst>
                </a:gridCol>
                <a:gridCol w="1780857">
                  <a:extLst>
                    <a:ext uri="{9D8B030D-6E8A-4147-A177-3AD203B41FA5}">
                      <a16:colId xmlns:a16="http://schemas.microsoft.com/office/drawing/2014/main" val="428477878"/>
                    </a:ext>
                  </a:extLst>
                </a:gridCol>
                <a:gridCol w="1780857">
                  <a:extLst>
                    <a:ext uri="{9D8B030D-6E8A-4147-A177-3AD203B41FA5}">
                      <a16:colId xmlns:a16="http://schemas.microsoft.com/office/drawing/2014/main" val="2030682024"/>
                    </a:ext>
                  </a:extLst>
                </a:gridCol>
                <a:gridCol w="1780857">
                  <a:extLst>
                    <a:ext uri="{9D8B030D-6E8A-4147-A177-3AD203B41FA5}">
                      <a16:colId xmlns:a16="http://schemas.microsoft.com/office/drawing/2014/main" val="2611387393"/>
                    </a:ext>
                  </a:extLst>
                </a:gridCol>
              </a:tblGrid>
              <a:tr h="47973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Technique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Formula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Parameters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Period Length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Notes</a:t>
                      </a:r>
                    </a:p>
                  </a:txBody>
                  <a:tcPr marL="59714" marR="59714" marT="29857" marB="29857" anchor="ctr"/>
                </a:tc>
                <a:extLst>
                  <a:ext uri="{0D108BD9-81ED-4DB2-BD59-A6C34878D82A}">
                    <a16:rowId xmlns:a16="http://schemas.microsoft.com/office/drawing/2014/main" val="1075501765"/>
                  </a:ext>
                </a:extLst>
              </a:tr>
              <a:tr h="13390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Linear Congruential Generator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00" dirty="0"/>
                        <a:t>Xn+1=(aXn+c)mod  m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a,c,m,X0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≤ m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Most widely used, needs good parameter selection</a:t>
                      </a:r>
                    </a:p>
                  </a:txBody>
                  <a:tcPr marL="59714" marR="59714" marT="29857" marB="29857" anchor="ctr"/>
                </a:tc>
                <a:extLst>
                  <a:ext uri="{0D108BD9-81ED-4DB2-BD59-A6C34878D82A}">
                    <a16:rowId xmlns:a16="http://schemas.microsoft.com/office/drawing/2014/main" val="432921438"/>
                  </a:ext>
                </a:extLst>
              </a:tr>
              <a:tr h="708136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Mixed Generator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Xn+1 = (</a:t>
                      </a:r>
                      <a:r>
                        <a:rPr lang="en-US" sz="1600" dirty="0" err="1"/>
                        <a:t>aXn</a:t>
                      </a:r>
                      <a:r>
                        <a:rPr lang="en-US" sz="1600" dirty="0"/>
                        <a:t> + c ) mod  m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Same as LCG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Full period if conditions met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Better than pure LCG in period</a:t>
                      </a:r>
                    </a:p>
                  </a:txBody>
                  <a:tcPr marL="59714" marR="59714" marT="29857" marB="29857" anchor="ctr"/>
                </a:tc>
                <a:extLst>
                  <a:ext uri="{0D108BD9-81ED-4DB2-BD59-A6C34878D82A}">
                    <a16:rowId xmlns:a16="http://schemas.microsoft.com/office/drawing/2014/main" val="3233643196"/>
                  </a:ext>
                </a:extLst>
              </a:tr>
              <a:tr h="1339023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Additive Generator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Xn</a:t>
                      </a:r>
                      <a:r>
                        <a:rPr lang="en-US" sz="1600" dirty="0"/>
                        <a:t> = (</a:t>
                      </a:r>
                      <a:r>
                        <a:rPr lang="en-US" sz="1600" dirty="0" err="1"/>
                        <a:t>Xn</a:t>
                      </a:r>
                      <a:r>
                        <a:rPr lang="en-US" sz="1600" dirty="0"/>
                        <a:t>−j + </a:t>
                      </a:r>
                      <a:r>
                        <a:rPr lang="en-US" sz="1600" dirty="0" err="1"/>
                        <a:t>Xn</a:t>
                      </a:r>
                      <a:r>
                        <a:rPr lang="en-US" sz="1600" dirty="0"/>
                        <a:t>−k) mod  m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Seeds, j, k, m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Depends on j, k, m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Better randomness, requires seed vector</a:t>
                      </a:r>
                    </a:p>
                  </a:txBody>
                  <a:tcPr marL="59714" marR="59714" marT="29857" marB="29857" anchor="ctr"/>
                </a:tc>
                <a:extLst>
                  <a:ext uri="{0D108BD9-81ED-4DB2-BD59-A6C34878D82A}">
                    <a16:rowId xmlns:a16="http://schemas.microsoft.com/office/drawing/2014/main" val="3023184823"/>
                  </a:ext>
                </a:extLst>
              </a:tr>
              <a:tr h="102358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Incremental Generator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00" dirty="0"/>
                        <a:t>Xn+1=(Xn+d)mod  m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d,m,X0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≤ m</a:t>
                      </a:r>
                    </a:p>
                  </a:txBody>
                  <a:tcPr marL="59714" marR="59714" marT="29857" marB="29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Simple, but limited randomness</a:t>
                      </a:r>
                    </a:p>
                  </a:txBody>
                  <a:tcPr marL="59714" marR="59714" marT="29857" marB="29857" anchor="ctr"/>
                </a:tc>
                <a:extLst>
                  <a:ext uri="{0D108BD9-81ED-4DB2-BD59-A6C34878D82A}">
                    <a16:rowId xmlns:a16="http://schemas.microsoft.com/office/drawing/2014/main" val="1489455472"/>
                  </a:ext>
                </a:extLst>
              </a:tr>
            </a:tbl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7F2A62-0D56-C581-6ACB-563A0CA0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69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9704-5C23-186B-5848-EAED43E3C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Tests for Random Number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CC4D8-3CC0-EB22-8D3C-29502294C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1651"/>
            <a:ext cx="8866716" cy="4269712"/>
          </a:xfrm>
        </p:spPr>
        <p:txBody>
          <a:bodyPr>
            <a:normAutofit fontScale="92500" lnSpcReduction="20000"/>
          </a:bodyPr>
          <a:lstStyle/>
          <a:p>
            <a:pPr marL="0" indent="0">
              <a:buFont typeface="Wingdings 3" charset="2"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Independence Tests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Run Test: </a:t>
            </a:r>
          </a:p>
          <a:p>
            <a:pPr marL="457200" lvl="1" indent="0" fontAlgn="base">
              <a:buFont typeface="Wingdings 3" charset="2"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Evaluates the randomness of the sequence by analyzing the number of runs</a:t>
            </a:r>
          </a:p>
          <a:p>
            <a:pPr marL="457200" lvl="1" indent="0" fontAlgn="base">
              <a:buFont typeface="Wingdings 3" charset="2"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Checks if the number and distribution of runs align with what is expected in a truly random sequence.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Auto-Correlation Test:</a:t>
            </a:r>
          </a:p>
          <a:p>
            <a:pPr marL="457200" marR="0" lvl="1" indent="0" fontAlgn="base">
              <a:buFont typeface="Wingdings 3" charset="2"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Examines the correlation between random numbers separated by a fixed lag.</a:t>
            </a:r>
          </a:p>
          <a:p>
            <a:pPr marL="457200" marR="0" lvl="1" indent="0" fontAlgn="base">
              <a:buFont typeface="Wingdings 3" charset="2"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Low or no correlation indicates independence.</a:t>
            </a:r>
          </a:p>
          <a:p>
            <a:pPr marL="0" indent="0"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Uniformity Test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Chi-square test: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Compares the distribution of the generated numbers to a uniform distribution.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Frequency test: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 the randomness of a sequence of zeroes and ones.</a:t>
            </a:r>
          </a:p>
          <a:p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4F05B-C897-CABA-B6AE-013DD9F77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316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3849</TotalTime>
  <Words>4004</Words>
  <Application>Microsoft Office PowerPoint</Application>
  <PresentationFormat>Widescreen</PresentationFormat>
  <Paragraphs>525</Paragraphs>
  <Slides>26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Cambria Math</vt:lpstr>
      <vt:lpstr>Trebuchet MS</vt:lpstr>
      <vt:lpstr>Wingdings</vt:lpstr>
      <vt:lpstr>Wingdings 3</vt:lpstr>
      <vt:lpstr>Facet</vt:lpstr>
      <vt:lpstr>Probability Concepts and Random Number Generation</vt:lpstr>
      <vt:lpstr>Content</vt:lpstr>
      <vt:lpstr>Introduction to Probability in Simulation</vt:lpstr>
      <vt:lpstr>Applications of Probability in Simulation</vt:lpstr>
      <vt:lpstr>Stochastic Variables</vt:lpstr>
      <vt:lpstr>Discrete Probability Function</vt:lpstr>
      <vt:lpstr>Continuous Probability Function</vt:lpstr>
      <vt:lpstr>Random Numbers</vt:lpstr>
      <vt:lpstr>Properties of Random Numbers</vt:lpstr>
      <vt:lpstr>Pseudo- Random Numbers</vt:lpstr>
      <vt:lpstr>Application</vt:lpstr>
      <vt:lpstr>Generating Random Numbers in Simulation</vt:lpstr>
      <vt:lpstr>Linear Congruential Method.</vt:lpstr>
      <vt:lpstr>Key Parameters</vt:lpstr>
      <vt:lpstr>Example</vt:lpstr>
      <vt:lpstr>PowerPoint Presentation</vt:lpstr>
      <vt:lpstr>Strengths and Weakness of LCG</vt:lpstr>
      <vt:lpstr>Applications of Linear Congruential Generators</vt:lpstr>
      <vt:lpstr>Combined Linear Congruential Generators</vt:lpstr>
      <vt:lpstr>Formula</vt:lpstr>
      <vt:lpstr>Why Combine LCGs?</vt:lpstr>
      <vt:lpstr>Periodicity of CLCG</vt:lpstr>
      <vt:lpstr>Advantages and Disadvantages</vt:lpstr>
      <vt:lpstr>Other approaches</vt:lpstr>
      <vt:lpstr>Comparison</vt:lpstr>
      <vt:lpstr>Tests for Random Number Generation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KAPIL DEV PANT</dc:creator>
  <cp:lastModifiedBy>Kapil Dev Pant</cp:lastModifiedBy>
  <cp:revision>98</cp:revision>
  <dcterms:created xsi:type="dcterms:W3CDTF">2025-01-05T00:10:31Z</dcterms:created>
  <dcterms:modified xsi:type="dcterms:W3CDTF">2026-05-03T19:20:43Z</dcterms:modified>
</cp:coreProperties>
</file>