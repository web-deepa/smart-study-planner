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70" r:id="rId15"/>
    <p:sldId id="271" r:id="rId16"/>
    <p:sldId id="272" r:id="rId17"/>
    <p:sldId id="269" r:id="rId18"/>
    <p:sldId id="273" r:id="rId19"/>
    <p:sldId id="274" r:id="rId20"/>
    <p:sldId id="275" r:id="rId21"/>
    <p:sldId id="276" r:id="rId22"/>
    <p:sldId id="278" r:id="rId23"/>
    <p:sldId id="281" r:id="rId24"/>
    <p:sldId id="279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77C3C-3E78-414C-AD12-B3F6F6755008}" v="24" dt="2026-07-06T16:25:28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Paneru" userId="109592e82ad92d31" providerId="LiveId" clId="{DD419BE1-3242-4946-9F7F-B10F44B6E878}"/>
    <pc:docChg chg="undo custSel addSld delSld modSld">
      <pc:chgData name="Deepa Paneru" userId="109592e82ad92d31" providerId="LiveId" clId="{DD419BE1-3242-4946-9F7F-B10F44B6E878}" dt="2026-07-06T16:30:41.903" v="390" actId="20577"/>
      <pc:docMkLst>
        <pc:docMk/>
      </pc:docMkLst>
      <pc:sldChg chg="modSp mod">
        <pc:chgData name="Deepa Paneru" userId="109592e82ad92d31" providerId="LiveId" clId="{DD419BE1-3242-4946-9F7F-B10F44B6E878}" dt="2026-07-06T15:44:24.841" v="3" actId="20577"/>
        <pc:sldMkLst>
          <pc:docMk/>
          <pc:sldMk cId="4049617554" sldId="270"/>
        </pc:sldMkLst>
        <pc:spChg chg="mod">
          <ac:chgData name="Deepa Paneru" userId="109592e82ad92d31" providerId="LiveId" clId="{DD419BE1-3242-4946-9F7F-B10F44B6E878}" dt="2026-07-06T15:44:24.841" v="3" actId="20577"/>
          <ac:spMkLst>
            <pc:docMk/>
            <pc:sldMk cId="4049617554" sldId="270"/>
            <ac:spMk id="5" creationId="{E7A9E765-9661-8859-43BF-D0BDE2AF9558}"/>
          </ac:spMkLst>
        </pc:spChg>
      </pc:sldChg>
      <pc:sldChg chg="modSp mod">
        <pc:chgData name="Deepa Paneru" userId="109592e82ad92d31" providerId="LiveId" clId="{DD419BE1-3242-4946-9F7F-B10F44B6E878}" dt="2026-07-06T15:45:03.981" v="7" actId="255"/>
        <pc:sldMkLst>
          <pc:docMk/>
          <pc:sldMk cId="388663" sldId="271"/>
        </pc:sldMkLst>
        <pc:spChg chg="mod">
          <ac:chgData name="Deepa Paneru" userId="109592e82ad92d31" providerId="LiveId" clId="{DD419BE1-3242-4946-9F7F-B10F44B6E878}" dt="2026-07-06T15:44:54.902" v="6" actId="14100"/>
          <ac:spMkLst>
            <pc:docMk/>
            <pc:sldMk cId="388663" sldId="271"/>
            <ac:spMk id="2" creationId="{25143195-ED94-4A28-688E-4C05DF0DC905}"/>
          </ac:spMkLst>
        </pc:spChg>
        <pc:spChg chg="mod">
          <ac:chgData name="Deepa Paneru" userId="109592e82ad92d31" providerId="LiveId" clId="{DD419BE1-3242-4946-9F7F-B10F44B6E878}" dt="2026-07-06T15:45:03.981" v="7" actId="255"/>
          <ac:spMkLst>
            <pc:docMk/>
            <pc:sldMk cId="388663" sldId="271"/>
            <ac:spMk id="4" creationId="{952C9AFE-6AEB-843E-E81C-D66805A67DEB}"/>
          </ac:spMkLst>
        </pc:spChg>
      </pc:sldChg>
      <pc:sldChg chg="modSp add mod">
        <pc:chgData name="Deepa Paneru" userId="109592e82ad92d31" providerId="LiveId" clId="{DD419BE1-3242-4946-9F7F-B10F44B6E878}" dt="2026-07-06T15:46:10.124" v="16" actId="20577"/>
        <pc:sldMkLst>
          <pc:docMk/>
          <pc:sldMk cId="3891190959" sldId="274"/>
        </pc:sldMkLst>
        <pc:spChg chg="mod">
          <ac:chgData name="Deepa Paneru" userId="109592e82ad92d31" providerId="LiveId" clId="{DD419BE1-3242-4946-9F7F-B10F44B6E878}" dt="2026-07-06T15:46:10.124" v="16" actId="20577"/>
          <ac:spMkLst>
            <pc:docMk/>
            <pc:sldMk cId="3891190959" sldId="274"/>
            <ac:spMk id="2" creationId="{00000000-0000-0000-0000-000000000000}"/>
          </ac:spMkLst>
        </pc:spChg>
      </pc:sldChg>
      <pc:sldChg chg="modSp add mod">
        <pc:chgData name="Deepa Paneru" userId="109592e82ad92d31" providerId="LiveId" clId="{DD419BE1-3242-4946-9F7F-B10F44B6E878}" dt="2026-07-06T15:46:30.749" v="17" actId="255"/>
        <pc:sldMkLst>
          <pc:docMk/>
          <pc:sldMk cId="2066767775" sldId="275"/>
        </pc:sldMkLst>
        <pc:spChg chg="mod">
          <ac:chgData name="Deepa Paneru" userId="109592e82ad92d31" providerId="LiveId" clId="{DD419BE1-3242-4946-9F7F-B10F44B6E878}" dt="2026-07-06T15:46:30.749" v="17" actId="255"/>
          <ac:spMkLst>
            <pc:docMk/>
            <pc:sldMk cId="2066767775" sldId="275"/>
            <ac:spMk id="2" creationId="{00000000-0000-0000-0000-000000000000}"/>
          </ac:spMkLst>
        </pc:spChg>
      </pc:sldChg>
      <pc:sldChg chg="modSp add mod">
        <pc:chgData name="Deepa Paneru" userId="109592e82ad92d31" providerId="LiveId" clId="{DD419BE1-3242-4946-9F7F-B10F44B6E878}" dt="2026-07-06T16:28:18.751" v="381" actId="255"/>
        <pc:sldMkLst>
          <pc:docMk/>
          <pc:sldMk cId="3848835438" sldId="276"/>
        </pc:sldMkLst>
        <pc:spChg chg="mod">
          <ac:chgData name="Deepa Paneru" userId="109592e82ad92d31" providerId="LiveId" clId="{DD419BE1-3242-4946-9F7F-B10F44B6E878}" dt="2026-07-06T16:28:18.751" v="381" actId="255"/>
          <ac:spMkLst>
            <pc:docMk/>
            <pc:sldMk cId="3848835438" sldId="276"/>
            <ac:spMk id="3" creationId="{00000000-0000-0000-0000-000000000000}"/>
          </ac:spMkLst>
        </pc:spChg>
      </pc:sldChg>
      <pc:sldChg chg="delSp modSp add del mod">
        <pc:chgData name="Deepa Paneru" userId="109592e82ad92d31" providerId="LiveId" clId="{DD419BE1-3242-4946-9F7F-B10F44B6E878}" dt="2026-07-06T16:04:42.866" v="81" actId="2696"/>
        <pc:sldMkLst>
          <pc:docMk/>
          <pc:sldMk cId="1274005920" sldId="277"/>
        </pc:sldMkLst>
        <pc:spChg chg="mod">
          <ac:chgData name="Deepa Paneru" userId="109592e82ad92d31" providerId="LiveId" clId="{DD419BE1-3242-4946-9F7F-B10F44B6E878}" dt="2026-07-06T16:02:54.753" v="55" actId="21"/>
          <ac:spMkLst>
            <pc:docMk/>
            <pc:sldMk cId="1274005920" sldId="277"/>
            <ac:spMk id="2" creationId="{00000000-0000-0000-0000-000000000000}"/>
          </ac:spMkLst>
        </pc:spChg>
        <pc:spChg chg="del mod">
          <ac:chgData name="Deepa Paneru" userId="109592e82ad92d31" providerId="LiveId" clId="{DD419BE1-3242-4946-9F7F-B10F44B6E878}" dt="2026-07-06T16:01:34.803" v="46"/>
          <ac:spMkLst>
            <pc:docMk/>
            <pc:sldMk cId="1274005920" sldId="277"/>
            <ac:spMk id="3" creationId="{00000000-0000-0000-0000-000000000000}"/>
          </ac:spMkLst>
        </pc:spChg>
      </pc:sldChg>
      <pc:sldChg chg="add del">
        <pc:chgData name="Deepa Paneru" userId="109592e82ad92d31" providerId="LiveId" clId="{DD419BE1-3242-4946-9F7F-B10F44B6E878}" dt="2026-07-06T16:02:46.217" v="51"/>
        <pc:sldMkLst>
          <pc:docMk/>
          <pc:sldMk cId="1330307602" sldId="277"/>
        </pc:sldMkLst>
      </pc:sldChg>
      <pc:sldChg chg="addSp delSp modSp add mod">
        <pc:chgData name="Deepa Paneru" userId="109592e82ad92d31" providerId="LiveId" clId="{DD419BE1-3242-4946-9F7F-B10F44B6E878}" dt="2026-07-06T16:12:08.489" v="209" actId="20577"/>
        <pc:sldMkLst>
          <pc:docMk/>
          <pc:sldMk cId="2309303764" sldId="278"/>
        </pc:sldMkLst>
        <pc:spChg chg="add del mod">
          <ac:chgData name="Deepa Paneru" userId="109592e82ad92d31" providerId="LiveId" clId="{DD419BE1-3242-4946-9F7F-B10F44B6E878}" dt="2026-07-06T16:05:43.980" v="137" actId="20577"/>
          <ac:spMkLst>
            <pc:docMk/>
            <pc:sldMk cId="2309303764" sldId="278"/>
            <ac:spMk id="4" creationId="{00000000-0000-0000-0000-000000000000}"/>
          </ac:spMkLst>
        </pc:spChg>
        <pc:spChg chg="mod">
          <ac:chgData name="Deepa Paneru" userId="109592e82ad92d31" providerId="LiveId" clId="{DD419BE1-3242-4946-9F7F-B10F44B6E878}" dt="2026-07-06T16:07:48.280" v="152" actId="21"/>
          <ac:spMkLst>
            <pc:docMk/>
            <pc:sldMk cId="2309303764" sldId="278"/>
            <ac:spMk id="6" creationId="{00000000-0000-0000-0000-000000000000}"/>
          </ac:spMkLst>
        </pc:spChg>
        <pc:spChg chg="add del mod">
          <ac:chgData name="Deepa Paneru" userId="109592e82ad92d31" providerId="LiveId" clId="{DD419BE1-3242-4946-9F7F-B10F44B6E878}" dt="2026-07-06T16:12:08.489" v="209" actId="20577"/>
          <ac:spMkLst>
            <pc:docMk/>
            <pc:sldMk cId="2309303764" sldId="278"/>
            <ac:spMk id="7" creationId="{00000000-0000-0000-0000-000000000000}"/>
          </ac:spMkLst>
        </pc:spChg>
        <pc:spChg chg="add del mod">
          <ac:chgData name="Deepa Paneru" userId="109592e82ad92d31" providerId="LiveId" clId="{DD419BE1-3242-4946-9F7F-B10F44B6E878}" dt="2026-07-06T16:02:48.049" v="52" actId="478"/>
          <ac:spMkLst>
            <pc:docMk/>
            <pc:sldMk cId="2309303764" sldId="278"/>
            <ac:spMk id="9" creationId="{8C19EEDA-B5C3-57D9-821B-0F859335CADF}"/>
          </ac:spMkLst>
        </pc:spChg>
        <pc:spChg chg="add del">
          <ac:chgData name="Deepa Paneru" userId="109592e82ad92d31" providerId="LiveId" clId="{DD419BE1-3242-4946-9F7F-B10F44B6E878}" dt="2026-07-06T16:11:45.544" v="200" actId="22"/>
          <ac:spMkLst>
            <pc:docMk/>
            <pc:sldMk cId="2309303764" sldId="278"/>
            <ac:spMk id="11" creationId="{70CED33E-6FD4-BF19-B56C-8BB33CE5B1EF}"/>
          </ac:spMkLst>
        </pc:spChg>
        <pc:picChg chg="mod">
          <ac:chgData name="Deepa Paneru" userId="109592e82ad92d31" providerId="LiveId" clId="{DD419BE1-3242-4946-9F7F-B10F44B6E878}" dt="2026-07-06T16:10:58.682" v="197" actId="14100"/>
          <ac:picMkLst>
            <pc:docMk/>
            <pc:sldMk cId="2309303764" sldId="278"/>
            <ac:picMk id="2" creationId="{00000000-0000-0000-0000-000000000000}"/>
          </ac:picMkLst>
        </pc:picChg>
        <pc:picChg chg="del">
          <ac:chgData name="Deepa Paneru" userId="109592e82ad92d31" providerId="LiveId" clId="{DD419BE1-3242-4946-9F7F-B10F44B6E878}" dt="2026-07-06T16:06:13.787" v="139" actId="478"/>
          <ac:picMkLst>
            <pc:docMk/>
            <pc:sldMk cId="2309303764" sldId="278"/>
            <ac:picMk id="5" creationId="{00000000-0000-0000-0000-000000000000}"/>
          </ac:picMkLst>
        </pc:picChg>
      </pc:sldChg>
      <pc:sldChg chg="modSp add mod">
        <pc:chgData name="Deepa Paneru" userId="109592e82ad92d31" providerId="LiveId" clId="{DD419BE1-3242-4946-9F7F-B10F44B6E878}" dt="2026-07-06T16:22:00.717" v="284" actId="20577"/>
        <pc:sldMkLst>
          <pc:docMk/>
          <pc:sldMk cId="3554857796" sldId="279"/>
        </pc:sldMkLst>
        <pc:spChg chg="mod">
          <ac:chgData name="Deepa Paneru" userId="109592e82ad92d31" providerId="LiveId" clId="{DD419BE1-3242-4946-9F7F-B10F44B6E878}" dt="2026-07-06T16:14:21.534" v="223" actId="114"/>
          <ac:spMkLst>
            <pc:docMk/>
            <pc:sldMk cId="3554857796" sldId="279"/>
            <ac:spMk id="2" creationId="{00000000-0000-0000-0000-000000000000}"/>
          </ac:spMkLst>
        </pc:spChg>
        <pc:spChg chg="mod">
          <ac:chgData name="Deepa Paneru" userId="109592e82ad92d31" providerId="LiveId" clId="{DD419BE1-3242-4946-9F7F-B10F44B6E878}" dt="2026-07-06T16:22:00.717" v="284" actId="20577"/>
          <ac:spMkLst>
            <pc:docMk/>
            <pc:sldMk cId="3554857796" sldId="279"/>
            <ac:spMk id="5" creationId="{00000000-0000-0000-0000-000000000000}"/>
          </ac:spMkLst>
        </pc:spChg>
        <pc:picChg chg="mod">
          <ac:chgData name="Deepa Paneru" userId="109592e82ad92d31" providerId="LiveId" clId="{DD419BE1-3242-4946-9F7F-B10F44B6E878}" dt="2026-07-06T16:14:33.727" v="224" actId="14100"/>
          <ac:picMkLst>
            <pc:docMk/>
            <pc:sldMk cId="3554857796" sldId="279"/>
            <ac:picMk id="3" creationId="{00000000-0000-0000-0000-000000000000}"/>
          </ac:picMkLst>
        </pc:picChg>
      </pc:sldChg>
      <pc:sldChg chg="add del">
        <pc:chgData name="Deepa Paneru" userId="109592e82ad92d31" providerId="LiveId" clId="{DD419BE1-3242-4946-9F7F-B10F44B6E878}" dt="2026-07-06T16:22:47.630" v="294"/>
        <pc:sldMkLst>
          <pc:docMk/>
          <pc:sldMk cId="233873739" sldId="280"/>
        </pc:sldMkLst>
      </pc:sldChg>
      <pc:sldChg chg="addSp delSp modSp add del mod">
        <pc:chgData name="Deepa Paneru" userId="109592e82ad92d31" providerId="LiveId" clId="{DD419BE1-3242-4946-9F7F-B10F44B6E878}" dt="2026-07-06T16:27:23.817" v="379" actId="2696"/>
        <pc:sldMkLst>
          <pc:docMk/>
          <pc:sldMk cId="2695395280" sldId="280"/>
        </pc:sldMkLst>
        <pc:spChg chg="mod">
          <ac:chgData name="Deepa Paneru" userId="109592e82ad92d31" providerId="LiveId" clId="{DD419BE1-3242-4946-9F7F-B10F44B6E878}" dt="2026-07-06T16:22:10.255" v="286" actId="20577"/>
          <ac:spMkLst>
            <pc:docMk/>
            <pc:sldMk cId="2695395280" sldId="280"/>
            <ac:spMk id="3" creationId="{00000000-0000-0000-0000-000000000000}"/>
          </ac:spMkLst>
        </pc:spChg>
        <pc:spChg chg="add del mod">
          <ac:chgData name="Deepa Paneru" userId="109592e82ad92d31" providerId="LiveId" clId="{DD419BE1-3242-4946-9F7F-B10F44B6E878}" dt="2026-07-06T16:23:04.311" v="303"/>
          <ac:spMkLst>
            <pc:docMk/>
            <pc:sldMk cId="2695395280" sldId="280"/>
            <ac:spMk id="6" creationId="{00000000-0000-0000-0000-000000000000}"/>
          </ac:spMkLst>
        </pc:spChg>
      </pc:sldChg>
      <pc:sldChg chg="addSp delSp modSp new mod">
        <pc:chgData name="Deepa Paneru" userId="109592e82ad92d31" providerId="LiveId" clId="{DD419BE1-3242-4946-9F7F-B10F44B6E878}" dt="2026-07-06T16:10:19.438" v="191" actId="120"/>
        <pc:sldMkLst>
          <pc:docMk/>
          <pc:sldMk cId="829863953" sldId="281"/>
        </pc:sldMkLst>
        <pc:spChg chg="mod">
          <ac:chgData name="Deepa Paneru" userId="109592e82ad92d31" providerId="LiveId" clId="{DD419BE1-3242-4946-9F7F-B10F44B6E878}" dt="2026-07-06T16:10:19.438" v="191" actId="120"/>
          <ac:spMkLst>
            <pc:docMk/>
            <pc:sldMk cId="829863953" sldId="281"/>
            <ac:spMk id="2" creationId="{04503E0C-D1D4-243D-88A4-06BB1011E315}"/>
          </ac:spMkLst>
        </pc:spChg>
        <pc:spChg chg="mod">
          <ac:chgData name="Deepa Paneru" userId="109592e82ad92d31" providerId="LiveId" clId="{DD419BE1-3242-4946-9F7F-B10F44B6E878}" dt="2026-07-06T16:10:10.735" v="190" actId="14100"/>
          <ac:spMkLst>
            <pc:docMk/>
            <pc:sldMk cId="829863953" sldId="281"/>
            <ac:spMk id="3" creationId="{CA0B7069-70A3-50EE-134D-26B9DBECCB0D}"/>
          </ac:spMkLst>
        </pc:spChg>
        <pc:spChg chg="add del mod">
          <ac:chgData name="Deepa Paneru" userId="109592e82ad92d31" providerId="LiveId" clId="{DD419BE1-3242-4946-9F7F-B10F44B6E878}" dt="2026-07-06T16:09:46.868" v="187"/>
          <ac:spMkLst>
            <pc:docMk/>
            <pc:sldMk cId="829863953" sldId="281"/>
            <ac:spMk id="5" creationId="{F5F51CF0-0F9E-C3A5-180D-B7DF6D785AEB}"/>
          </ac:spMkLst>
        </pc:spChg>
      </pc:sldChg>
      <pc:sldChg chg="modSp new mod">
        <pc:chgData name="Deepa Paneru" userId="109592e82ad92d31" providerId="LiveId" clId="{DD419BE1-3242-4946-9F7F-B10F44B6E878}" dt="2026-07-06T16:30:41.903" v="390" actId="20577"/>
        <pc:sldMkLst>
          <pc:docMk/>
          <pc:sldMk cId="3343330335" sldId="282"/>
        </pc:sldMkLst>
        <pc:spChg chg="mod">
          <ac:chgData name="Deepa Paneru" userId="109592e82ad92d31" providerId="LiveId" clId="{DD419BE1-3242-4946-9F7F-B10F44B6E878}" dt="2026-07-06T16:28:55.083" v="382" actId="255"/>
          <ac:spMkLst>
            <pc:docMk/>
            <pc:sldMk cId="3343330335" sldId="282"/>
            <ac:spMk id="2" creationId="{0B2BBC27-17AA-3417-DF7C-6BF3436D1B3D}"/>
          </ac:spMkLst>
        </pc:spChg>
        <pc:spChg chg="mod">
          <ac:chgData name="Deepa Paneru" userId="109592e82ad92d31" providerId="LiveId" clId="{DD419BE1-3242-4946-9F7F-B10F44B6E878}" dt="2026-07-06T16:30:41.903" v="390" actId="20577"/>
          <ac:spMkLst>
            <pc:docMk/>
            <pc:sldMk cId="3343330335" sldId="282"/>
            <ac:spMk id="3" creationId="{A6F66B03-3EBC-6ED5-9653-4D9C7E3DCF2C}"/>
          </ac:spMkLst>
        </pc:spChg>
      </pc:sldChg>
      <pc:sldChg chg="new del">
        <pc:chgData name="Deepa Paneru" userId="109592e82ad92d31" providerId="LiveId" clId="{DD419BE1-3242-4946-9F7F-B10F44B6E878}" dt="2026-07-06T16:22:49.265" v="295" actId="680"/>
        <pc:sldMkLst>
          <pc:docMk/>
          <pc:sldMk cId="1998727526" sldId="283"/>
        </pc:sldMkLst>
      </pc:sldChg>
      <pc:sldChg chg="modSp new mod">
        <pc:chgData name="Deepa Paneru" userId="109592e82ad92d31" providerId="LiveId" clId="{DD419BE1-3242-4946-9F7F-B10F44B6E878}" dt="2026-07-06T16:27:32.481" v="380" actId="14100"/>
        <pc:sldMkLst>
          <pc:docMk/>
          <pc:sldMk cId="3492516596" sldId="283"/>
        </pc:sldMkLst>
        <pc:spChg chg="mod">
          <ac:chgData name="Deepa Paneru" userId="109592e82ad92d31" providerId="LiveId" clId="{DD419BE1-3242-4946-9F7F-B10F44B6E878}" dt="2026-07-06T16:26:43.815" v="378" actId="27636"/>
          <ac:spMkLst>
            <pc:docMk/>
            <pc:sldMk cId="3492516596" sldId="283"/>
            <ac:spMk id="2" creationId="{9D1909E9-58E2-03DE-BEE8-0F24A05A33EC}"/>
          </ac:spMkLst>
        </pc:spChg>
        <pc:spChg chg="mod">
          <ac:chgData name="Deepa Paneru" userId="109592e82ad92d31" providerId="LiveId" clId="{DD419BE1-3242-4946-9F7F-B10F44B6E878}" dt="2026-07-06T16:27:32.481" v="380" actId="14100"/>
          <ac:spMkLst>
            <pc:docMk/>
            <pc:sldMk cId="3492516596" sldId="283"/>
            <ac:spMk id="3" creationId="{424ACC97-05D5-ABA3-E0F0-87C5EB4809BD}"/>
          </ac:spMkLst>
        </pc:spChg>
      </pc:sldChg>
      <pc:sldMasterChg chg="addSldLayout delSldLayout">
        <pc:chgData name="Deepa Paneru" userId="109592e82ad92d31" providerId="LiveId" clId="{DD419BE1-3242-4946-9F7F-B10F44B6E878}" dt="2026-07-06T16:04:42.866" v="81" actId="2696"/>
        <pc:sldMasterMkLst>
          <pc:docMk/>
          <pc:sldMasterMk cId="1439009747" sldId="2147483660"/>
        </pc:sldMasterMkLst>
        <pc:sldLayoutChg chg="add del">
          <pc:chgData name="Deepa Paneru" userId="109592e82ad92d31" providerId="LiveId" clId="{DD419BE1-3242-4946-9F7F-B10F44B6E878}" dt="2026-07-06T16:04:42.866" v="81" actId="2696"/>
          <pc:sldLayoutMkLst>
            <pc:docMk/>
            <pc:sldMasterMk cId="1439009747" sldId="2147483660"/>
            <pc:sldLayoutMk cId="2928711027" sldId="21474836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E7F5-A8BF-2A12-BE06-572B3FFF1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EB891-D855-55DF-B0CB-166F27F3F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8AD91-9B9D-EB08-3E1F-DF243CC0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00B0A-A088-E99B-87DA-9E85CC06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70056-788B-D953-406A-2358FEFD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8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7F32-F68B-E5BE-7AA5-4322C7B7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D2F5-EC2E-810B-B23F-1F2424B16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3269-05BC-B13F-5D72-055A5AC1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BFB1F-49AA-83B4-39CE-56156216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168E-B191-0568-4608-8E13C522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8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77CE-5A84-9791-15A0-C450758B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1C352-0689-2BA4-EA9B-BC96978E3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C429C-1A57-03C2-9B65-507A26A2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0B47-110B-956D-010E-6BBD01D5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160BC-BCF5-85B7-8C8A-6644AAD8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0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C3F3-4E38-D948-DE86-118EA086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E75C-FE19-49A6-EF93-07144E018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78A61-9D91-B276-D196-79B1E5D4D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56B39-5412-14C6-7B19-32455C86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A8483-F14F-65A5-3641-C106AEB7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65164-1601-B6CC-1F3A-61C6E77D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8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BBA4-000F-EFB7-3899-FF4A6A55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4C5F-0D1A-AAD1-8F4E-3064FF76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F9A11-AD77-DE3F-CED5-7B39B3F70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27E76-5CB3-FC95-B996-5DF7ADE3D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385D9-4226-2B53-2C34-5E705EB77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5E8A2-C66E-D8ED-7F61-9FCB3A18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E4541-62AA-22AF-59F1-7F8DEF02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A7734-24F4-9A81-3026-225F6C62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3E4B-A4D8-9686-8750-53E16D20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98EA9-371F-1817-0D81-630CEBC2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777A1-740B-06AA-B28B-B8BAA73F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A4852-AA03-891D-F80E-9FD0F4D5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DFAD2-9535-9045-E84B-0ECD7B29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999C6-9CDF-FEC6-575F-34478AAE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3EF6-F9C4-6095-0CD1-30BE13E3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260EF-6052-EBE9-558E-398AD3D7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38AE-A9CE-A34F-5E4A-FA1003E6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C2A8D-C163-BADA-1DD9-AC3AFAB4B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138E6-3EE9-C8F4-D81F-C752FE6E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1AEE0-CCF8-F716-E495-2F0A5363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753E3-6C66-0970-0EE0-FE8C0C8D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1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2D3F-58DA-9378-93EA-286902E4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B296B-5912-4A4B-3788-74AE8CE45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6E295-722C-65AE-CBF4-3EF4391FB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34491-587C-F447-5216-57DC57B8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1954C-87F4-ECD2-435B-E2887D0A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7C591-5028-390C-3277-2B962F20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4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6EAB-0CC1-C93F-F6D9-3770F727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18F02-06EB-18C0-2E06-8B6E3B7C2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88090-7C91-D05A-876B-FF3276C4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5DC6-F7E4-D3EF-55AF-C6008BA1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44CAB-96BE-F5B0-4C24-FD3EFF15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1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E35CE-1432-FEC5-B066-A36F204FE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3F6EF-3DDE-4FAB-21FE-6F73F812C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4068-C483-58A3-26E6-40542CFB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AFDD5-7830-999C-6941-6E50F00F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46F8B-1FBC-96EA-68F5-C430C8DF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1B7B-EE2F-276B-F587-2D534E1B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C07B-69ED-4F01-601C-EAEFFEA8C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9B41-8523-25B1-2F7C-C2E011E4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97246-5BAE-4748-BE35-95F957F5DBEC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06-07-2026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C5C22-61FE-2294-8FDD-A74EBEAB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0F04A-AD65-A043-7199-5ABD7CC9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82B7E-E601-48CE-B76C-34FA5D88595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363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1FD5-AA68-483B-2231-C0F9935CD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92C43-8998-78B8-DBF5-4E5B31715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A2CD-9FDD-B30B-EC44-F44DF618D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97246-5BAE-4748-BE35-95F957F5DBEC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06-07-2026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F3FB-98D5-46AF-1DF0-A1839039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0C5D-C3DD-12A9-DA9C-2390E65F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82B7E-E601-48CE-B76C-34FA5D88595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881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B295-FC9B-70C8-2A82-E6D5A9811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9D5BD-69EF-CE1A-3E10-285283EAA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DB85D-EDEB-AE1F-1E5D-4DA261600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C18EF-C55A-26A4-69FC-DD6506D1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97246-5BAE-4748-BE35-95F957F5DBEC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06-07-2026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5B595-3133-8940-1A61-BE436551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107C1-5C4D-7662-8D91-2F07B083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82B7E-E601-48CE-B76C-34FA5D88595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95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3013-A901-849C-CC4F-12DA918D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D331-2447-B2AC-1F08-01297460B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89B9F-5797-A19B-C449-17B024ADC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871FF-B66F-390A-C587-217F30D8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97246-5BAE-4748-BE35-95F957F5DBEC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06-07-2026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BC9A0-ACA1-703B-BE85-A805623C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0CD0F-298B-555C-D9B0-44AC2E14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82B7E-E601-48CE-B76C-34FA5D88595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91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C9263-EA3D-3577-C783-6F90D997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431E7-F438-E8E8-E8B3-9D7039964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2B2F-A541-2EF2-87E4-F59BC06EC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95440-2669-4FBA-A34D-EE97E45CD1DB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6B2C-0336-B69F-8DB5-B46F77FA8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75137-73DC-3D2E-C232-628CA3268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02331-707B-49A3-8A66-8F679C12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6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71916-0A92-BD54-F482-0065C125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DF5B0-9338-1048-9C26-DDF0D523B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30DB5-5827-11C7-CD4F-3D9AA294C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7246-5BAE-4748-BE35-95F957F5DBEC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7E422-CA16-15BC-0F69-8E98A15D5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7D9B8-DF0A-CE2A-F844-37C0C284D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82B7E-E601-48CE-B76C-34FA5D88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00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E760-B223-CA51-C339-A4E2BD851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Unit-7:Congestion Control and Quality of Services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7E221-B7B5-F338-DEB2-9A3881104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81867"/>
            <a:ext cx="9144000" cy="217593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Presented by:</a:t>
            </a:r>
          </a:p>
          <a:p>
            <a:r>
              <a:rPr lang="en-US" dirty="0"/>
              <a:t>Deepa Kumari Paneru(11)</a:t>
            </a:r>
          </a:p>
          <a:p>
            <a:r>
              <a:rPr lang="en-US" dirty="0"/>
              <a:t>Garima Thapa(17)</a:t>
            </a:r>
          </a:p>
          <a:p>
            <a:r>
              <a:rPr lang="en-US" dirty="0" err="1"/>
              <a:t>Lilawati</a:t>
            </a:r>
            <a:r>
              <a:rPr lang="en-US" dirty="0"/>
              <a:t> Rana(25)</a:t>
            </a:r>
          </a:p>
          <a:p>
            <a:r>
              <a:rPr lang="en-US" dirty="0" err="1"/>
              <a:t>Niruta</a:t>
            </a:r>
            <a:r>
              <a:rPr lang="en-US" dirty="0"/>
              <a:t> Chaudhary(29)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52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5E2D-0363-C2EF-4927-73E5A97A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7DA8-3B12-3C5E-2622-3BE72669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7.1:Congestion </a:t>
            </a:r>
            <a:r>
              <a:rPr lang="en-US" dirty="0" err="1"/>
              <a:t>Control:Open</a:t>
            </a:r>
            <a:r>
              <a:rPr lang="en-US" dirty="0"/>
              <a:t> </a:t>
            </a:r>
            <a:r>
              <a:rPr lang="en-US" dirty="0" err="1"/>
              <a:t>Loop,Closed</a:t>
            </a:r>
            <a:r>
              <a:rPr lang="en-US" dirty="0"/>
              <a:t> Loop</a:t>
            </a:r>
          </a:p>
          <a:p>
            <a:pPr marL="0" indent="0">
              <a:buNone/>
            </a:pPr>
            <a:r>
              <a:rPr lang="en-US" dirty="0"/>
              <a:t>7.2:Traffic </a:t>
            </a:r>
            <a:r>
              <a:rPr lang="en-US" dirty="0" err="1"/>
              <a:t>Shaping:Leaky</a:t>
            </a:r>
            <a:r>
              <a:rPr lang="en-US" dirty="0"/>
              <a:t> </a:t>
            </a:r>
            <a:r>
              <a:rPr lang="en-US" dirty="0" err="1"/>
              <a:t>Buacket</a:t>
            </a:r>
            <a:r>
              <a:rPr lang="en-US" dirty="0"/>
              <a:t> and Token Bucket</a:t>
            </a:r>
          </a:p>
          <a:p>
            <a:pPr marL="0" indent="0">
              <a:buNone/>
            </a:pPr>
            <a:r>
              <a:rPr lang="en-US" dirty="0"/>
              <a:t>7.3:TCP Congestion  Control </a:t>
            </a:r>
          </a:p>
        </p:txBody>
      </p:sp>
    </p:spTree>
    <p:extLst>
      <p:ext uri="{BB962C8B-B14F-4D97-AF65-F5344CB8AC3E}">
        <p14:creationId xmlns:p14="http://schemas.microsoft.com/office/powerpoint/2010/main" val="358836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0B98-F6E6-F690-3405-CBC09ADD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7.1Congestion </a:t>
            </a:r>
            <a:r>
              <a:rPr lang="en-US" dirty="0" err="1"/>
              <a:t>Control:Open</a:t>
            </a:r>
            <a:r>
              <a:rPr lang="en-US" dirty="0"/>
              <a:t> Loop and Closed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95C96-0E55-B644-2DA8-36D331119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Congestion:</a:t>
            </a:r>
          </a:p>
          <a:p>
            <a:pPr marL="0" indent="0">
              <a:buNone/>
            </a:pPr>
            <a:r>
              <a:rPr lang="en-US" dirty="0"/>
              <a:t>Congestion occurs in network when the load on network is greater than its </a:t>
            </a:r>
            <a:r>
              <a:rPr lang="en-US" dirty="0" err="1"/>
              <a:t>capacity.It</a:t>
            </a:r>
            <a:r>
              <a:rPr lang="en-US" dirty="0"/>
              <a:t> results delay ,slow data transmission rate and packet loss.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Congestion Control:</a:t>
            </a:r>
          </a:p>
          <a:p>
            <a:pPr marL="0" indent="0">
              <a:buNone/>
            </a:pPr>
            <a:r>
              <a:rPr lang="en-US" dirty="0"/>
              <a:t>Congestion Control is the technique or </a:t>
            </a:r>
            <a:r>
              <a:rPr lang="en-US" dirty="0" err="1"/>
              <a:t>mechnaisms</a:t>
            </a:r>
            <a:r>
              <a:rPr lang="en-US" dirty="0"/>
              <a:t> to control the congestion and keep the load of network below the capacity.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52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4A9C-DC65-C7A7-C423-33057F37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Control Mechanism: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17454-F7E5-218D-C682-83803E0DE21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Congestion control can be done using two methods: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D340C-36A8-DE85-B160-F9E9BE0C8532}"/>
              </a:ext>
            </a:extLst>
          </p:cNvPr>
          <p:cNvSpPr/>
          <p:nvPr/>
        </p:nvSpPr>
        <p:spPr>
          <a:xfrm>
            <a:off x="4097867" y="2590800"/>
            <a:ext cx="215053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Congestion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15823-61FD-2B9A-F47A-2242CE6F7CBD}"/>
              </a:ext>
            </a:extLst>
          </p:cNvPr>
          <p:cNvSpPr/>
          <p:nvPr/>
        </p:nvSpPr>
        <p:spPr>
          <a:xfrm>
            <a:off x="2015068" y="4199467"/>
            <a:ext cx="15240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loop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7EEC01-2C7D-945F-5FC3-351D81B7F3A0}"/>
              </a:ext>
            </a:extLst>
          </p:cNvPr>
          <p:cNvSpPr/>
          <p:nvPr/>
        </p:nvSpPr>
        <p:spPr>
          <a:xfrm>
            <a:off x="7150101" y="4131999"/>
            <a:ext cx="15240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Closed Loop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7F4F5B-B9EA-66E8-E098-01CA5E58ADFE}"/>
              </a:ext>
            </a:extLst>
          </p:cNvPr>
          <p:cNvCxnSpPr/>
          <p:nvPr/>
        </p:nvCxnSpPr>
        <p:spPr>
          <a:xfrm flipH="1">
            <a:off x="2637367" y="3113881"/>
            <a:ext cx="1642534" cy="1151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BCDB56-9443-4563-F131-24AACC6969DC}"/>
              </a:ext>
            </a:extLst>
          </p:cNvPr>
          <p:cNvCxnSpPr/>
          <p:nvPr/>
        </p:nvCxnSpPr>
        <p:spPr>
          <a:xfrm>
            <a:off x="6248400" y="3099065"/>
            <a:ext cx="1981200" cy="1032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6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B59C-D825-3931-5FF9-0CA7D890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1.Open Loop Congestion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892E-5E7C-85CC-FB8C-A8F872C35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Open Loop congestion Control  prevents congestion before it </a:t>
            </a:r>
            <a:r>
              <a:rPr lang="en-US" dirty="0" err="1"/>
              <a:t>happens.Congestion</a:t>
            </a:r>
            <a:r>
              <a:rPr lang="en-US" dirty="0"/>
              <a:t> control is handled by either source or destination.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Open Loop policies</a:t>
            </a:r>
          </a:p>
          <a:p>
            <a:pPr marL="0" indent="0">
              <a:buNone/>
            </a:pPr>
            <a:r>
              <a:rPr lang="en-US" b="1" dirty="0"/>
              <a:t>1</a:t>
            </a:r>
            <a:r>
              <a:rPr lang="en-US" b="1"/>
              <a:t>.Retransmission </a:t>
            </a:r>
            <a:r>
              <a:rPr lang="en-US" b="1" dirty="0"/>
              <a:t>Policy:</a:t>
            </a:r>
          </a:p>
          <a:p>
            <a:pPr marL="0" indent="0">
              <a:buNone/>
            </a:pPr>
            <a:r>
              <a:rPr lang="en-US" dirty="0" err="1"/>
              <a:t>Retransimission</a:t>
            </a:r>
            <a:r>
              <a:rPr lang="en-US" dirty="0"/>
              <a:t> sometimes becomes </a:t>
            </a:r>
            <a:r>
              <a:rPr lang="en-US" dirty="0" err="1"/>
              <a:t>unavoidable.If</a:t>
            </a:r>
            <a:r>
              <a:rPr lang="en-US" dirty="0"/>
              <a:t> sender feels that a sent packet is lost or </a:t>
            </a:r>
            <a:r>
              <a:rPr lang="en-US" dirty="0" err="1"/>
              <a:t>corrupted,the</a:t>
            </a:r>
            <a:r>
              <a:rPr lang="en-US" dirty="0"/>
              <a:t> packet needs to be </a:t>
            </a:r>
            <a:r>
              <a:rPr lang="en-US" dirty="0" err="1"/>
              <a:t>retransmitted.It</a:t>
            </a:r>
            <a:r>
              <a:rPr lang="en-US" dirty="0"/>
              <a:t> can increase the congestion  in </a:t>
            </a:r>
            <a:r>
              <a:rPr lang="en-US" dirty="0" err="1"/>
              <a:t>network.However</a:t>
            </a:r>
            <a:r>
              <a:rPr lang="en-US" dirty="0"/>
              <a:t> a good retransmission which is designed by </a:t>
            </a:r>
            <a:r>
              <a:rPr lang="en-US" dirty="0" err="1"/>
              <a:t>retransimmison</a:t>
            </a:r>
            <a:r>
              <a:rPr lang="en-US" dirty="0"/>
              <a:t> policy and transmission timers  to optimize efficiency and also prevent congestion at same </a:t>
            </a:r>
            <a:r>
              <a:rPr lang="en-US" dirty="0" err="1"/>
              <a:t>time.Eg:Retransmission</a:t>
            </a:r>
            <a:r>
              <a:rPr lang="en-US" dirty="0"/>
              <a:t> policy by TCP.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87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F19C-3392-747F-D737-1FBE476A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2.Window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B54CF-B212-D36F-B2A2-31252F01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type of window  at sender may affect </a:t>
            </a:r>
            <a:r>
              <a:rPr lang="en-US" dirty="0" err="1"/>
              <a:t>congestion.The</a:t>
            </a:r>
            <a:r>
              <a:rPr lang="en-US" dirty="0"/>
              <a:t> Selective repeat Window is better than Go-Back-</a:t>
            </a:r>
            <a:r>
              <a:rPr lang="en-US" dirty="0" err="1"/>
              <a:t>N.In</a:t>
            </a:r>
            <a:r>
              <a:rPr lang="en-US" dirty="0"/>
              <a:t> Go-Back-N window ,when timer for a packet times </a:t>
            </a:r>
            <a:r>
              <a:rPr lang="en-US" dirty="0" err="1"/>
              <a:t>out,lost</a:t>
            </a:r>
            <a:r>
              <a:rPr lang="en-US" dirty="0"/>
              <a:t> or corrupted packet can be resent which reduces duplication of retransmission.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3.Acknowledgement Policy</a:t>
            </a:r>
          </a:p>
          <a:p>
            <a:pPr marL="0" indent="0">
              <a:buNone/>
            </a:pPr>
            <a:r>
              <a:rPr lang="en-US" dirty="0"/>
              <a:t>If a receiver </a:t>
            </a:r>
            <a:r>
              <a:rPr lang="en-US" dirty="0" err="1"/>
              <a:t>doesnot</a:t>
            </a:r>
            <a:r>
              <a:rPr lang="en-US" dirty="0"/>
              <a:t> acknowledge every packet it </a:t>
            </a:r>
            <a:r>
              <a:rPr lang="en-US" dirty="0" err="1"/>
              <a:t>receives,it</a:t>
            </a:r>
            <a:r>
              <a:rPr lang="en-US" dirty="0"/>
              <a:t> may slow down the sender and help slow down </a:t>
            </a:r>
            <a:r>
              <a:rPr lang="en-US" dirty="0" err="1"/>
              <a:t>congestion.A</a:t>
            </a:r>
            <a:r>
              <a:rPr lang="en-US" dirty="0"/>
              <a:t> receiver  send an ACK only if it has a packet to be sent  or a special time expires.</a:t>
            </a:r>
          </a:p>
        </p:txBody>
      </p:sp>
    </p:spTree>
    <p:extLst>
      <p:ext uri="{BB962C8B-B14F-4D97-AF65-F5344CB8AC3E}">
        <p14:creationId xmlns:p14="http://schemas.microsoft.com/office/powerpoint/2010/main" val="230772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2854-8570-5C17-EB4C-3854C23E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4.Discarding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6B7AA-01E9-EA7F-4766-55844F5E2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good discarding policy helps to prevent </a:t>
            </a:r>
            <a:r>
              <a:rPr lang="en-US" dirty="0" err="1"/>
              <a:t>congestion.In</a:t>
            </a:r>
            <a:r>
              <a:rPr lang="en-US" dirty="0"/>
              <a:t> audio transmission the less sensitive packets are </a:t>
            </a:r>
            <a:r>
              <a:rPr lang="en-US" dirty="0" err="1"/>
              <a:t>discarded,while</a:t>
            </a:r>
            <a:r>
              <a:rPr lang="en-US" dirty="0"/>
              <a:t> the quality of sound remains same.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5.Admission Policy</a:t>
            </a:r>
          </a:p>
          <a:p>
            <a:pPr marL="0" indent="0">
              <a:buNone/>
            </a:pPr>
            <a:r>
              <a:rPr lang="en-US" dirty="0"/>
              <a:t>Admission policy can also p[</a:t>
            </a:r>
            <a:r>
              <a:rPr lang="en-US" dirty="0" err="1"/>
              <a:t>revent</a:t>
            </a:r>
            <a:r>
              <a:rPr lang="en-US" dirty="0"/>
              <a:t> congestion in virtual-circuit </a:t>
            </a:r>
            <a:r>
              <a:rPr lang="en-US" dirty="0" err="1"/>
              <a:t>networks.Switches</a:t>
            </a:r>
            <a:r>
              <a:rPr lang="en-US" dirty="0"/>
              <a:t> in a flow first check the resource requirements of a flow before admitting it to the </a:t>
            </a:r>
            <a:r>
              <a:rPr lang="en-US" dirty="0" err="1"/>
              <a:t>network.A</a:t>
            </a:r>
            <a:r>
              <a:rPr lang="en-US" dirty="0"/>
              <a:t> router can deny  establishing a virtual-circuit connection if there is congestion  in the network or possibility of </a:t>
            </a:r>
            <a:r>
              <a:rPr lang="en-US" dirty="0" err="1"/>
              <a:t>coingestion</a:t>
            </a:r>
            <a:r>
              <a:rPr lang="en-US" dirty="0"/>
              <a:t> in near future.</a:t>
            </a:r>
          </a:p>
        </p:txBody>
      </p:sp>
    </p:spTree>
    <p:extLst>
      <p:ext uri="{BB962C8B-B14F-4D97-AF65-F5344CB8AC3E}">
        <p14:creationId xmlns:p14="http://schemas.microsoft.com/office/powerpoint/2010/main" val="135468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404B-BAAF-9BDC-A19F-0D236C25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2.Closed Loop Congestion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05A64-1FA0-4ECB-5D76-75C0FB5C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53509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Closed Loop congestion control try to reduce congestion after it happens.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Mechanism of Closed Loop Control</a:t>
            </a:r>
          </a:p>
          <a:p>
            <a:pPr marL="0" indent="0">
              <a:buNone/>
            </a:pPr>
            <a:r>
              <a:rPr lang="en-US" b="1" dirty="0"/>
              <a:t>1.Back-Pressure</a:t>
            </a:r>
          </a:p>
          <a:p>
            <a:pPr marL="0" indent="0">
              <a:buNone/>
            </a:pPr>
            <a:r>
              <a:rPr lang="en-US" dirty="0"/>
              <a:t>In  Back Pressure a congested node stops receiving data from immediate upstream </a:t>
            </a:r>
            <a:r>
              <a:rPr lang="en-US" dirty="0" err="1"/>
              <a:t>nodes.It</a:t>
            </a:r>
            <a:r>
              <a:rPr lang="en-US" dirty="0"/>
              <a:t> is node ton node congestion control  that starts with a node and propagates in the opposite direction of </a:t>
            </a:r>
            <a:r>
              <a:rPr lang="en-US" dirty="0" err="1"/>
              <a:t>dta</a:t>
            </a:r>
            <a:r>
              <a:rPr lang="en-US" dirty="0"/>
              <a:t> flow to source. It can only apply in  virtual circuit networks.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12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4A7B-7F01-104F-1074-57D94EEC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7EE2EA-DF42-9C07-46CB-5035EFC31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39" y="1825625"/>
            <a:ext cx="11714671" cy="34745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F7C910-8AF6-00A2-D88D-595F93839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325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7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81E6-4A9C-ED07-2566-068BD891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2.Choke Packet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9169-47B4-461F-B22A-5373F47B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151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Choke packet is a packet sent by a node to the source to inform it of </a:t>
            </a:r>
            <a:r>
              <a:rPr lang="en-US" dirty="0" err="1"/>
              <a:t>congestion.Eg:ICMP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3.Implicit Signaling</a:t>
            </a:r>
          </a:p>
          <a:p>
            <a:pPr marL="0" indent="0">
              <a:buNone/>
            </a:pPr>
            <a:r>
              <a:rPr lang="en-US" dirty="0"/>
              <a:t>In implicit </a:t>
            </a:r>
            <a:r>
              <a:rPr lang="en-US" dirty="0" err="1"/>
              <a:t>signaling,there</a:t>
            </a:r>
            <a:r>
              <a:rPr lang="en-US" dirty="0"/>
              <a:t> is no communication  between the congested nodes and </a:t>
            </a:r>
            <a:r>
              <a:rPr lang="en-US" dirty="0" err="1"/>
              <a:t>source.For</a:t>
            </a:r>
            <a:r>
              <a:rPr lang="en-US" dirty="0"/>
              <a:t> </a:t>
            </a:r>
            <a:r>
              <a:rPr lang="en-US" dirty="0" err="1"/>
              <a:t>example:when</a:t>
            </a:r>
            <a:r>
              <a:rPr lang="en-US" dirty="0"/>
              <a:t> a source sends several packets and there is no ACK for while ,one assumption is that network is congested 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247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17DD-4BD2-54AA-AB07-E377008E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4.Explicit Signaling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C0A1-91F7-FC63-AD99-1DD987B77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node that experiences congestion can explicitly  send a signal to source or </a:t>
            </a:r>
            <a:r>
              <a:rPr lang="en-US" dirty="0" err="1"/>
              <a:t>destination.The</a:t>
            </a:r>
            <a:r>
              <a:rPr lang="en-US" dirty="0"/>
              <a:t> signal is included in the packets and carry </a:t>
            </a:r>
            <a:r>
              <a:rPr lang="en-US" dirty="0" err="1"/>
              <a:t>data.It</a:t>
            </a:r>
            <a:r>
              <a:rPr lang="en-US" dirty="0"/>
              <a:t> can occur forward or backward direction.</a:t>
            </a:r>
          </a:p>
        </p:txBody>
      </p:sp>
    </p:spTree>
    <p:extLst>
      <p:ext uri="{BB962C8B-B14F-4D97-AF65-F5344CB8AC3E}">
        <p14:creationId xmlns:p14="http://schemas.microsoft.com/office/powerpoint/2010/main" val="22994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9F95-8620-3CD4-A983-F696250D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7.2 Traffic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F91F-A029-C2EB-1C89-35E4588C1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Traffic shaping is a mechanism to control the amount and the rate of the traffic sent to the network. </a:t>
            </a:r>
          </a:p>
          <a:p>
            <a:pPr marL="0" indent="0">
              <a:buNone/>
            </a:pPr>
            <a:r>
              <a:rPr lang="en-US" dirty="0"/>
              <a:t>Two techniques can shape traffic:</a:t>
            </a:r>
          </a:p>
          <a:p>
            <a:pPr marL="514350" indent="-514350">
              <a:buAutoNum type="arabicPeriod"/>
            </a:pPr>
            <a:r>
              <a:rPr lang="en-US" dirty="0"/>
              <a:t>Leaky bucket </a:t>
            </a:r>
          </a:p>
          <a:p>
            <a:pPr marL="514350" indent="-514350">
              <a:buAutoNum type="arabicPeriod"/>
            </a:pPr>
            <a:r>
              <a:rPr lang="en-US" dirty="0"/>
              <a:t> Token bucket. </a:t>
            </a:r>
          </a:p>
        </p:txBody>
      </p:sp>
    </p:spTree>
    <p:extLst>
      <p:ext uri="{BB962C8B-B14F-4D97-AF65-F5344CB8AC3E}">
        <p14:creationId xmlns:p14="http://schemas.microsoft.com/office/powerpoint/2010/main" val="3166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A9E765-9661-8859-43BF-D0BDE2AF95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1.Leaky bucket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19CC4-B8A2-5B98-FED6-7D3D0B675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149F5-F0C7-DB21-8750-C37B74A2BF99}"/>
              </a:ext>
            </a:extLst>
          </p:cNvPr>
          <p:cNvSpPr txBox="1"/>
          <p:nvPr/>
        </p:nvSpPr>
        <p:spPr>
          <a:xfrm>
            <a:off x="133350" y="2828836"/>
            <a:ext cx="110680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Leaky Bucket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a traffic control and congestion control algorithm used in computer networks. It smooths out bursts of data by sending packets at a constant rate.</a:t>
            </a:r>
          </a:p>
        </p:txBody>
      </p:sp>
    </p:spTree>
    <p:extLst>
      <p:ext uri="{BB962C8B-B14F-4D97-AF65-F5344CB8AC3E}">
        <p14:creationId xmlns:p14="http://schemas.microsoft.com/office/powerpoint/2010/main" val="4049617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3195-ED94-4A28-688E-4C05DF0D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80081" cy="1600200"/>
          </a:xfrm>
        </p:spPr>
        <p:txBody>
          <a:bodyPr>
            <a:normAutofit/>
          </a:bodyPr>
          <a:lstStyle/>
          <a:p>
            <a:r>
              <a:rPr lang="en-US" sz="4400" b="1" dirty="0"/>
              <a:t>Working  Mechanism</a:t>
            </a:r>
            <a:endParaRPr lang="en-IN" sz="4400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A8AF4A0-8AF4-DB59-E323-F985B8DFB5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130" r="10130"/>
          <a:stretch/>
        </p:blipFill>
        <p:spPr>
          <a:xfrm>
            <a:off x="5183188" y="987425"/>
            <a:ext cx="667602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C9AFE-6AEB-843E-E81C-D66805A67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Incoming packets are stored in a bucket(buffer).</a:t>
            </a:r>
          </a:p>
          <a:p>
            <a:r>
              <a:rPr lang="en-US" sz="2400" dirty="0"/>
              <a:t>The bucket leaks packets at a constant rate, </a:t>
            </a:r>
            <a:r>
              <a:rPr lang="en-US" sz="2800" dirty="0"/>
              <a:t>regardless</a:t>
            </a:r>
            <a:r>
              <a:rPr lang="en-US" sz="2400" dirty="0"/>
              <a:t> of how fast packets arrive.</a:t>
            </a:r>
          </a:p>
          <a:p>
            <a:r>
              <a:rPr lang="en-US" sz="2400" dirty="0"/>
              <a:t>If the incoming rate exceeds the outgoing rate for too long ,the bucket overflows and extra packets are dropped.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9CFC-A818-DB80-4D35-EB7AA2A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and Disadvantage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A6BAB-560F-CC8C-673E-5A2AAA5AF4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  <a:p>
            <a:r>
              <a:rPr lang="en-US" dirty="0"/>
              <a:t>Controls network congestion.</a:t>
            </a:r>
          </a:p>
          <a:p>
            <a:r>
              <a:rPr lang="en-US" dirty="0"/>
              <a:t>Produces a smooth and constants output rate.</a:t>
            </a:r>
          </a:p>
          <a:p>
            <a:r>
              <a:rPr lang="en-US" dirty="0"/>
              <a:t>Improves network stability.</a:t>
            </a:r>
          </a:p>
          <a:p>
            <a:r>
              <a:rPr lang="en-US" dirty="0"/>
              <a:t>Prevents sudden bursts of traffic.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80B78-6B7D-6E11-EC45-49B99884B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Disadvantage</a:t>
            </a:r>
          </a:p>
          <a:p>
            <a:r>
              <a:rPr lang="en-US" dirty="0"/>
              <a:t>Bursty traffic is not allowed</a:t>
            </a:r>
          </a:p>
          <a:p>
            <a:r>
              <a:rPr lang="en-US" dirty="0"/>
              <a:t>Can waste bandwidth if the network is not idle.</a:t>
            </a:r>
          </a:p>
          <a:p>
            <a:r>
              <a:rPr lang="en-US" dirty="0"/>
              <a:t>Less flexible than token bucket algorithm.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27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2700-EBDD-2C37-6837-8D9841F4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A992-6AAB-A33A-45D4-AAAEABCE1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r>
              <a:rPr lang="en-US" dirty="0"/>
              <a:t>Bucket capacity=10packets</a:t>
            </a:r>
          </a:p>
          <a:p>
            <a:r>
              <a:rPr lang="en-US" dirty="0"/>
              <a:t>Leak rate=2packets/seconds</a:t>
            </a:r>
          </a:p>
          <a:p>
            <a:r>
              <a:rPr lang="en-US" dirty="0"/>
              <a:t>If 15 packets are arrive at once:</a:t>
            </a:r>
          </a:p>
          <a:p>
            <a:r>
              <a:rPr lang="en-US" dirty="0"/>
              <a:t>10 packets are stored in the bucket. 5 packets are discarded because the bucket is full</a:t>
            </a:r>
          </a:p>
          <a:p>
            <a:r>
              <a:rPr lang="en-US" dirty="0"/>
              <a:t>The bucket sends 2 packets every seconds until it becomes empty.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209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62D7-8D49-1D7F-12A3-60ABB478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1D85-DF50-AA07-6FCD-A31BC978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shaping in routers and switches.</a:t>
            </a:r>
          </a:p>
          <a:p>
            <a:r>
              <a:rPr lang="en-US" dirty="0"/>
              <a:t>Networking control.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99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304801"/>
            <a:ext cx="6400800" cy="147002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2.Token Bucket Algorithm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752600"/>
            <a:ext cx="8229600" cy="2286000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/>
              <a:t>The Token Bucket Algorithm is a traffic control method where tokens are added to a bucket at a fixed rate and packets can be transmitted only if enough tokens are  available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190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3733800" cy="11731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How it </a:t>
            </a:r>
            <a:r>
              <a:rPr lang="en-US" b="1" dirty="0"/>
              <a:t>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0" y="1600201"/>
            <a:ext cx="9144000" cy="43434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/>
              <a:t>Token Generation</a:t>
            </a:r>
            <a:r>
              <a:rPr lang="en-US" sz="2400" dirty="0"/>
              <a:t>: tokens are added to the</a:t>
            </a:r>
          </a:p>
          <a:p>
            <a:pPr marL="0" indent="0" fontAlgn="base">
              <a:buNone/>
            </a:pPr>
            <a:r>
              <a:rPr lang="en-US" sz="2400" dirty="0"/>
              <a:t>       bucket at a fixed rate until it is full.</a:t>
            </a:r>
          </a:p>
          <a:p>
            <a:pPr fontAlgn="base"/>
            <a:r>
              <a:rPr lang="en-US" sz="2400" b="1" dirty="0"/>
              <a:t>Data Transmission:</a:t>
            </a:r>
            <a:r>
              <a:rPr lang="en-US" sz="2400" dirty="0"/>
              <a:t> A packet is sent only if </a:t>
            </a:r>
          </a:p>
          <a:p>
            <a:pPr marL="0" indent="0" fontAlgn="base">
              <a:buNone/>
            </a:pPr>
            <a:r>
              <a:rPr lang="en-US" sz="2400" dirty="0"/>
              <a:t>       enough tokens are available. </a:t>
            </a:r>
          </a:p>
          <a:p>
            <a:pPr fontAlgn="base"/>
            <a:r>
              <a:rPr lang="en-US" sz="2400" b="1" dirty="0" err="1"/>
              <a:t>Burstiness</a:t>
            </a:r>
            <a:r>
              <a:rPr lang="en-US" sz="2400" b="1" dirty="0"/>
              <a:t>:</a:t>
            </a:r>
            <a:r>
              <a:rPr lang="en-US" sz="2400" dirty="0"/>
              <a:t> Saved tokens allow many packets</a:t>
            </a:r>
          </a:p>
          <a:p>
            <a:pPr marL="0" indent="0" fontAlgn="base">
              <a:buNone/>
            </a:pPr>
            <a:r>
              <a:rPr lang="en-US" sz="2400" dirty="0"/>
              <a:t>        to be sent at once. </a:t>
            </a:r>
          </a:p>
          <a:p>
            <a:pPr fontAlgn="base"/>
            <a:r>
              <a:rPr lang="en-US" sz="2400" b="1" dirty="0"/>
              <a:t>Rate Limiting:</a:t>
            </a:r>
            <a:r>
              <a:rPr lang="en-US" sz="2400" dirty="0"/>
              <a:t> If there are no tokens,</a:t>
            </a:r>
          </a:p>
          <a:p>
            <a:pPr marL="0" indent="0" fontAlgn="base">
              <a:buNone/>
            </a:pPr>
            <a:r>
              <a:rPr lang="en-US" sz="2400" dirty="0"/>
              <a:t>       packets wait until new tokens are generated.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371600"/>
            <a:ext cx="28432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6767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066800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r>
              <a:rPr lang="en-US" b="1" dirty="0"/>
              <a:t>Advantage:</a:t>
            </a:r>
            <a:br>
              <a:rPr lang="en-US" b="1" dirty="0"/>
            </a:b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burst traffic</a:t>
            </a:r>
          </a:p>
          <a:p>
            <a:r>
              <a:rPr lang="en-US" dirty="0"/>
              <a:t>More flexible then leaky bucket</a:t>
            </a:r>
          </a:p>
          <a:p>
            <a:r>
              <a:rPr lang="en-US" dirty="0"/>
              <a:t>Better bandwidth utilization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200" b="1" dirty="0"/>
              <a:t>Disadvantage:</a:t>
            </a:r>
          </a:p>
          <a:p>
            <a:r>
              <a:rPr lang="en-US" dirty="0"/>
              <a:t>May cause packet loss during heavy congestion.</a:t>
            </a:r>
          </a:p>
          <a:p>
            <a:r>
              <a:rPr lang="en-US" dirty="0"/>
              <a:t>Burst traffic can create temporary congestion.</a:t>
            </a:r>
          </a:p>
          <a:p>
            <a:r>
              <a:rPr lang="en-US" dirty="0"/>
              <a:t>Needs proper token rate and bucket size settings.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835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641" y="3679512"/>
            <a:ext cx="6469825" cy="3168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839011"/>
            <a:ext cx="88900" cy="88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8800" y="342443"/>
            <a:ext cx="7010400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74934">
              <a:lnSpc>
                <a:spcPct val="100000"/>
              </a:lnSpc>
              <a:spcBef>
                <a:spcPts val="67"/>
              </a:spcBef>
            </a:pPr>
            <a:r>
              <a:rPr lang="en-US" dirty="0"/>
              <a:t>7  3 TCP Congestion Control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46449" y="1758259"/>
            <a:ext cx="10879494" cy="192125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0" marR="3387" indent="0">
              <a:lnSpc>
                <a:spcPct val="116100"/>
              </a:lnSpc>
              <a:spcBef>
                <a:spcPts val="67"/>
              </a:spcBef>
              <a:buNone/>
            </a:pPr>
            <a:r>
              <a:rPr dirty="0"/>
              <a:t>TCP</a:t>
            </a:r>
            <a:r>
              <a:rPr spc="-83" dirty="0"/>
              <a:t> </a:t>
            </a:r>
            <a:r>
              <a:rPr dirty="0"/>
              <a:t>congestion</a:t>
            </a:r>
            <a:r>
              <a:rPr spc="-17" dirty="0"/>
              <a:t> </a:t>
            </a:r>
            <a:r>
              <a:rPr dirty="0"/>
              <a:t>control</a:t>
            </a:r>
            <a:r>
              <a:rPr spc="-17" dirty="0"/>
              <a:t> </a:t>
            </a:r>
            <a:r>
              <a:rPr dirty="0"/>
              <a:t>is</a:t>
            </a:r>
            <a:r>
              <a:rPr spc="-13" dirty="0"/>
              <a:t> </a:t>
            </a:r>
            <a:r>
              <a:rPr dirty="0"/>
              <a:t>a</a:t>
            </a:r>
            <a:r>
              <a:rPr spc="-17" dirty="0"/>
              <a:t> </a:t>
            </a:r>
            <a:r>
              <a:rPr dirty="0"/>
              <a:t>mechanism</a:t>
            </a:r>
            <a:r>
              <a:rPr spc="-17" dirty="0"/>
              <a:t> </a:t>
            </a:r>
            <a:r>
              <a:rPr dirty="0"/>
              <a:t>used</a:t>
            </a:r>
            <a:r>
              <a:rPr spc="-17" dirty="0"/>
              <a:t> </a:t>
            </a:r>
            <a:r>
              <a:rPr dirty="0"/>
              <a:t>by</a:t>
            </a:r>
            <a:r>
              <a:rPr spc="-17" dirty="0"/>
              <a:t> </a:t>
            </a:r>
            <a:r>
              <a:rPr dirty="0"/>
              <a:t>the</a:t>
            </a:r>
            <a:r>
              <a:rPr spc="-47" dirty="0"/>
              <a:t> </a:t>
            </a:r>
            <a:r>
              <a:rPr dirty="0"/>
              <a:t>TCP</a:t>
            </a:r>
            <a:r>
              <a:rPr spc="-83" dirty="0"/>
              <a:t> </a:t>
            </a:r>
            <a:r>
              <a:rPr dirty="0"/>
              <a:t>protocol</a:t>
            </a:r>
            <a:r>
              <a:rPr spc="-17" dirty="0"/>
              <a:t> </a:t>
            </a:r>
            <a:r>
              <a:rPr dirty="0"/>
              <a:t>to</a:t>
            </a:r>
            <a:r>
              <a:rPr spc="-17" dirty="0"/>
              <a:t> </a:t>
            </a:r>
            <a:r>
              <a:rPr dirty="0"/>
              <a:t>regulate</a:t>
            </a:r>
            <a:r>
              <a:rPr spc="-13" dirty="0"/>
              <a:t> </a:t>
            </a:r>
            <a:r>
              <a:rPr dirty="0"/>
              <a:t>the</a:t>
            </a:r>
            <a:r>
              <a:rPr spc="-17" dirty="0"/>
              <a:t> </a:t>
            </a:r>
            <a:r>
              <a:rPr dirty="0"/>
              <a:t>rate</a:t>
            </a:r>
            <a:r>
              <a:rPr spc="-17" dirty="0"/>
              <a:t> </a:t>
            </a:r>
            <a:r>
              <a:rPr dirty="0"/>
              <a:t>of</a:t>
            </a:r>
            <a:r>
              <a:rPr spc="-17" dirty="0"/>
              <a:t> </a:t>
            </a:r>
            <a:r>
              <a:rPr dirty="0"/>
              <a:t>data</a:t>
            </a:r>
            <a:r>
              <a:rPr spc="-17" dirty="0"/>
              <a:t> </a:t>
            </a:r>
            <a:r>
              <a:rPr spc="-7" dirty="0"/>
              <a:t>transmission </a:t>
            </a:r>
            <a:r>
              <a:rPr dirty="0"/>
              <a:t>according</a:t>
            </a:r>
            <a:r>
              <a:rPr spc="-23" dirty="0"/>
              <a:t> </a:t>
            </a:r>
            <a:r>
              <a:rPr dirty="0"/>
              <a:t>to</a:t>
            </a:r>
            <a:r>
              <a:rPr spc="-23" dirty="0"/>
              <a:t> </a:t>
            </a:r>
            <a:r>
              <a:rPr dirty="0"/>
              <a:t>network</a:t>
            </a:r>
            <a:r>
              <a:rPr spc="-23" dirty="0"/>
              <a:t> </a:t>
            </a:r>
            <a:r>
              <a:rPr spc="-7" dirty="0"/>
              <a:t>conditions.</a:t>
            </a:r>
          </a:p>
          <a:p>
            <a:pPr marL="169342">
              <a:lnSpc>
                <a:spcPct val="100000"/>
              </a:lnSpc>
              <a:spcBef>
                <a:spcPts val="360"/>
              </a:spcBef>
            </a:pPr>
            <a:r>
              <a:rPr spc="-7" dirty="0"/>
              <a:t>It’s</a:t>
            </a:r>
            <a:r>
              <a:rPr spc="-30" dirty="0"/>
              <a:t> </a:t>
            </a:r>
            <a:r>
              <a:rPr dirty="0"/>
              <a:t>main</a:t>
            </a:r>
            <a:r>
              <a:rPr spc="-27" dirty="0"/>
              <a:t> </a:t>
            </a:r>
            <a:r>
              <a:rPr dirty="0"/>
              <a:t>goal</a:t>
            </a:r>
            <a:r>
              <a:rPr spc="-27" dirty="0"/>
              <a:t> </a:t>
            </a:r>
            <a:r>
              <a:rPr dirty="0"/>
              <a:t>is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dirty="0"/>
              <a:t>prevent</a:t>
            </a:r>
            <a:r>
              <a:rPr spc="-30" dirty="0"/>
              <a:t> </a:t>
            </a:r>
            <a:r>
              <a:rPr dirty="0"/>
              <a:t>network</a:t>
            </a:r>
            <a:r>
              <a:rPr spc="-27" dirty="0"/>
              <a:t> </a:t>
            </a:r>
            <a:r>
              <a:rPr dirty="0"/>
              <a:t>congestion</a:t>
            </a:r>
            <a:r>
              <a:rPr spc="-27" dirty="0"/>
              <a:t> </a:t>
            </a:r>
            <a:r>
              <a:rPr dirty="0"/>
              <a:t>while</a:t>
            </a:r>
            <a:r>
              <a:rPr spc="-27" dirty="0"/>
              <a:t> </a:t>
            </a:r>
            <a:r>
              <a:rPr dirty="0"/>
              <a:t>maintaining</a:t>
            </a:r>
            <a:r>
              <a:rPr spc="-27" dirty="0"/>
              <a:t> </a:t>
            </a:r>
            <a:r>
              <a:rPr dirty="0"/>
              <a:t>efficient</a:t>
            </a:r>
            <a:r>
              <a:rPr spc="-27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reliable</a:t>
            </a:r>
            <a:r>
              <a:rPr spc="-27" dirty="0"/>
              <a:t> </a:t>
            </a:r>
            <a:r>
              <a:rPr spc="-7" dirty="0"/>
              <a:t>communication.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01466" y="5584235"/>
            <a:ext cx="3047399" cy="43943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2800" spc="-7" dirty="0">
                <a:latin typeface="Times New Roman"/>
                <a:cs typeface="Times New Roman"/>
              </a:rPr>
              <a:t>fig-</a:t>
            </a:r>
            <a:r>
              <a:rPr lang="en-US" sz="2800" dirty="0">
                <a:latin typeface="Times New Roman"/>
                <a:cs typeface="Times New Roman"/>
              </a:rPr>
              <a:t>network</a:t>
            </a:r>
            <a:r>
              <a:rPr lang="en-US" sz="2800" spc="-53" dirty="0">
                <a:latin typeface="Times New Roman"/>
                <a:cs typeface="Times New Roman"/>
              </a:rPr>
              <a:t> </a:t>
            </a:r>
            <a:r>
              <a:rPr lang="en-US" sz="2800" spc="-7" dirty="0">
                <a:latin typeface="Times New Roman"/>
                <a:cs typeface="Times New Roman"/>
              </a:rPr>
              <a:t>diagram</a:t>
            </a: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9303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3E0C-D1D4-243D-88A4-06BB1011E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96902"/>
          </a:xfrm>
        </p:spPr>
        <p:txBody>
          <a:bodyPr/>
          <a:lstStyle/>
          <a:p>
            <a:pPr algn="l"/>
            <a:r>
              <a:rPr lang="en-US" dirty="0"/>
              <a:t>Objective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B7069-70A3-50EE-134D-26B9DBECC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17845"/>
            <a:ext cx="9144000" cy="3526971"/>
          </a:xfrm>
        </p:spPr>
        <p:txBody>
          <a:bodyPr>
            <a:normAutofit/>
          </a:bodyPr>
          <a:lstStyle/>
          <a:p>
            <a:pPr marL="238349" indent="-212101" algn="l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238772" algn="l"/>
              </a:tabLst>
            </a:pPr>
            <a:r>
              <a:rPr lang="en-US" sz="2800" dirty="0"/>
              <a:t>Prevent</a:t>
            </a:r>
            <a:r>
              <a:rPr lang="en-US" sz="2800" spc="-57" dirty="0"/>
              <a:t> </a:t>
            </a:r>
            <a:r>
              <a:rPr lang="en-US" sz="2800" dirty="0"/>
              <a:t>packet</a:t>
            </a:r>
            <a:r>
              <a:rPr lang="en-US" sz="2800" spc="-57" dirty="0"/>
              <a:t> </a:t>
            </a:r>
            <a:r>
              <a:rPr lang="en-US" sz="2800" spc="-13" dirty="0"/>
              <a:t>loss</a:t>
            </a:r>
            <a:endParaRPr lang="en-US" sz="2800" dirty="0"/>
          </a:p>
          <a:p>
            <a:pPr marL="238349" indent="-212101" algn="l">
              <a:lnSpc>
                <a:spcPct val="100000"/>
              </a:lnSpc>
              <a:spcBef>
                <a:spcPts val="373"/>
              </a:spcBef>
              <a:buAutoNum type="arabicPeriod"/>
              <a:tabLst>
                <a:tab pos="238772" algn="l"/>
              </a:tabLst>
            </a:pPr>
            <a:r>
              <a:rPr lang="en-US" sz="2800" dirty="0"/>
              <a:t>Improve</a:t>
            </a:r>
            <a:r>
              <a:rPr lang="en-US" sz="2800" spc="-67" dirty="0"/>
              <a:t> </a:t>
            </a:r>
            <a:r>
              <a:rPr lang="en-US" sz="2800" dirty="0"/>
              <a:t>network</a:t>
            </a:r>
            <a:r>
              <a:rPr lang="en-US" sz="2800" spc="-67" dirty="0"/>
              <a:t> </a:t>
            </a:r>
            <a:r>
              <a:rPr lang="en-US" sz="2800" spc="-7" dirty="0"/>
              <a:t>performance</a:t>
            </a:r>
            <a:endParaRPr lang="en-US" sz="2800" dirty="0"/>
          </a:p>
          <a:p>
            <a:pPr marL="238349" indent="-212101" algn="l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238772" algn="l"/>
              </a:tabLst>
            </a:pPr>
            <a:r>
              <a:rPr lang="en-US" sz="2800" dirty="0"/>
              <a:t>Ensure</a:t>
            </a:r>
            <a:r>
              <a:rPr lang="en-US" sz="2800" spc="-57" dirty="0"/>
              <a:t> </a:t>
            </a:r>
            <a:r>
              <a:rPr lang="en-US" sz="2800" dirty="0"/>
              <a:t>fair</a:t>
            </a:r>
            <a:r>
              <a:rPr lang="en-US" sz="2800" spc="-57" dirty="0"/>
              <a:t> </a:t>
            </a:r>
            <a:r>
              <a:rPr lang="en-US" sz="2800" dirty="0"/>
              <a:t>bandwidth</a:t>
            </a:r>
            <a:r>
              <a:rPr lang="en-US" sz="2800" spc="-53" dirty="0"/>
              <a:t> </a:t>
            </a:r>
            <a:r>
              <a:rPr lang="en-US" sz="2800" spc="-7" dirty="0"/>
              <a:t>sharing</a:t>
            </a:r>
            <a:endParaRPr lang="en-US" sz="2800" dirty="0"/>
          </a:p>
          <a:p>
            <a:pPr marL="238349" indent="-212101" algn="l">
              <a:lnSpc>
                <a:spcPct val="100000"/>
              </a:lnSpc>
              <a:spcBef>
                <a:spcPts val="373"/>
              </a:spcBef>
              <a:buAutoNum type="arabicPeriod"/>
              <a:tabLst>
                <a:tab pos="238772" algn="l"/>
              </a:tabLst>
            </a:pPr>
            <a:r>
              <a:rPr lang="en-US" sz="2800" dirty="0"/>
              <a:t>Maximize</a:t>
            </a:r>
            <a:r>
              <a:rPr lang="en-US" sz="2800" spc="-80" dirty="0"/>
              <a:t> </a:t>
            </a:r>
            <a:r>
              <a:rPr lang="en-US" sz="2800" spc="-7" dirty="0"/>
              <a:t>throughput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9863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273" y="1212980"/>
            <a:ext cx="11766293" cy="3558111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15399"/>
              </a:lnSpc>
              <a:spcBef>
                <a:spcPts val="67"/>
              </a:spcBef>
            </a:pPr>
            <a:r>
              <a:rPr sz="2800" dirty="0">
                <a:latin typeface="Times New Roman"/>
                <a:cs typeface="Times New Roman"/>
              </a:rPr>
              <a:t>TCP</a:t>
            </a:r>
            <a:r>
              <a:rPr sz="2800" spc="-11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congestion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adjusts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Congestion</a:t>
            </a:r>
            <a:r>
              <a:rPr sz="2800" spc="-87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Window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(cwnd)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feedback,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ensuring</a:t>
            </a:r>
            <a:r>
              <a:rPr sz="2800" spc="-57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efficient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fair</a:t>
            </a:r>
            <a:r>
              <a:rPr sz="2800" spc="-4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bandwidth</a:t>
            </a:r>
            <a:r>
              <a:rPr sz="2800" spc="-47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usage.</a:t>
            </a:r>
            <a:endParaRPr sz="2800" dirty="0">
              <a:latin typeface="Times New Roman"/>
              <a:cs typeface="Times New Roman"/>
            </a:endParaRPr>
          </a:p>
          <a:p>
            <a:pPr marL="8467">
              <a:spcBef>
                <a:spcPts val="337"/>
              </a:spcBef>
            </a:pPr>
            <a:r>
              <a:rPr sz="2800" b="1" dirty="0">
                <a:latin typeface="Times New Roman"/>
                <a:cs typeface="Times New Roman"/>
              </a:rPr>
              <a:t>Core</a:t>
            </a:r>
            <a:r>
              <a:rPr sz="2800" b="1" spc="-4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Phases</a:t>
            </a:r>
            <a:r>
              <a:rPr sz="2800" spc="-7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8467" marR="307779" indent="-2963">
              <a:lnSpc>
                <a:spcPts val="2540"/>
              </a:lnSpc>
              <a:spcBef>
                <a:spcPts val="140"/>
              </a:spcBef>
              <a:buSzPct val="96363"/>
              <a:buFont typeface="Times New Roman"/>
              <a:buAutoNum type="arabicPeriod"/>
              <a:tabLst>
                <a:tab pos="182466" algn="l"/>
              </a:tabLst>
            </a:pPr>
            <a:r>
              <a:rPr sz="2800" b="1" dirty="0">
                <a:latin typeface="Times New Roman"/>
                <a:cs typeface="Times New Roman"/>
              </a:rPr>
              <a:t>	Slow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Start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Begins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cwnd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MSS</a:t>
            </a:r>
            <a:r>
              <a:rPr sz="2800" spc="-3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37" dirty="0">
                <a:latin typeface="Times New Roman"/>
                <a:cs typeface="Times New Roman"/>
              </a:rPr>
              <a:t> </a:t>
            </a:r>
            <a:r>
              <a:rPr sz="2800" spc="-33" dirty="0">
                <a:latin typeface="Times New Roman"/>
                <a:cs typeface="Times New Roman"/>
              </a:rPr>
              <a:t>RTT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(exponential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growth)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until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reaches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start </a:t>
            </a:r>
            <a:r>
              <a:rPr sz="2800" dirty="0">
                <a:latin typeface="Times New Roman"/>
                <a:cs typeface="Times New Roman"/>
              </a:rPr>
              <a:t>threshold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(ssthresh)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occurs.</a:t>
            </a:r>
            <a:endParaRPr sz="2800" dirty="0">
              <a:latin typeface="Times New Roman"/>
              <a:cs typeface="Times New Roman"/>
            </a:endParaRPr>
          </a:p>
          <a:p>
            <a:pPr marL="182466" indent="-176962">
              <a:spcBef>
                <a:spcPts val="193"/>
              </a:spcBef>
              <a:buSzPct val="96363"/>
              <a:buFont typeface="Times New Roman"/>
              <a:buAutoNum type="arabicPeriod"/>
              <a:tabLst>
                <a:tab pos="182466" algn="l"/>
              </a:tabLst>
            </a:pPr>
            <a:r>
              <a:rPr sz="2800" b="1" spc="-13" dirty="0">
                <a:latin typeface="Times New Roman"/>
                <a:cs typeface="Times New Roman"/>
              </a:rPr>
              <a:t>Congestion</a:t>
            </a:r>
            <a:r>
              <a:rPr sz="2800" b="1" spc="-103" dirty="0">
                <a:latin typeface="Times New Roman"/>
                <a:cs typeface="Times New Roman"/>
              </a:rPr>
              <a:t> </a:t>
            </a:r>
            <a:r>
              <a:rPr sz="2800" b="1" spc="-27" dirty="0">
                <a:latin typeface="Times New Roman"/>
                <a:cs typeface="Times New Roman"/>
              </a:rPr>
              <a:t>Avoidance</a:t>
            </a:r>
            <a:r>
              <a:rPr sz="2800" spc="-27" dirty="0">
                <a:latin typeface="Times New Roman"/>
                <a:cs typeface="Times New Roman"/>
              </a:rPr>
              <a:t>–</a:t>
            </a:r>
            <a:r>
              <a:rPr sz="2800" spc="-10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reaching</a:t>
            </a:r>
            <a:r>
              <a:rPr sz="2800" spc="-2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ssthresh,</a:t>
            </a:r>
            <a:r>
              <a:rPr sz="2800" spc="-2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cwnd</a:t>
            </a:r>
            <a:r>
              <a:rPr sz="2800" spc="-27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grows</a:t>
            </a:r>
            <a:endParaRPr sz="2800" dirty="0">
              <a:latin typeface="Times New Roman"/>
              <a:cs typeface="Times New Roman"/>
            </a:endParaRPr>
          </a:p>
          <a:p>
            <a:pPr marL="66467" marR="5335537">
              <a:lnSpc>
                <a:spcPts val="2540"/>
              </a:lnSpc>
              <a:spcBef>
                <a:spcPts val="140"/>
              </a:spcBef>
            </a:pPr>
            <a:r>
              <a:rPr sz="2800" dirty="0">
                <a:latin typeface="Times New Roman"/>
                <a:cs typeface="Times New Roman"/>
              </a:rPr>
              <a:t>linearly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(cwnd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cwnd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spc="-13" dirty="0">
                <a:latin typeface="Times New Roman"/>
                <a:cs typeface="Times New Roman"/>
              </a:rPr>
              <a:t>RTT)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cautiously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probe</a:t>
            </a:r>
            <a:r>
              <a:rPr sz="2800" spc="-43" dirty="0">
                <a:latin typeface="Times New Roman"/>
                <a:cs typeface="Times New Roman"/>
              </a:rPr>
              <a:t> </a:t>
            </a:r>
            <a:r>
              <a:rPr sz="2800" spc="-17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7" dirty="0">
                <a:latin typeface="Times New Roman"/>
                <a:cs typeface="Times New Roman"/>
              </a:rPr>
              <a:t>bandwidth.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6649" y="3429000"/>
            <a:ext cx="4965350" cy="29579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584" y="870796"/>
            <a:ext cx="107949" cy="10794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8800" y="342442"/>
            <a:ext cx="7010400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dirty="0"/>
              <a:t>Congestion</a:t>
            </a:r>
            <a:r>
              <a:rPr lang="en-US" spc="-169" dirty="0"/>
              <a:t> </a:t>
            </a:r>
            <a:r>
              <a:rPr lang="en-US" spc="-7" dirty="0"/>
              <a:t>Window(</a:t>
            </a:r>
            <a:r>
              <a:rPr lang="en-US" spc="-7" dirty="0" err="1"/>
              <a:t>cwnd</a:t>
            </a:r>
            <a:r>
              <a:rPr lang="en-US" spc="-7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57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BC27-17AA-3417-DF7C-6BF3436D1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805" y="991735"/>
            <a:ext cx="9772261" cy="818404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atin typeface="Times New Roman"/>
                <a:cs typeface="Times New Roman"/>
              </a:rPr>
              <a:t>3.Congestion</a:t>
            </a:r>
            <a:r>
              <a:rPr lang="en-US" sz="2800" b="1" spc="-50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Detection</a:t>
            </a:r>
            <a:br>
              <a:rPr lang="en-US" sz="2800" b="1" dirty="0">
                <a:latin typeface="Times New Roman"/>
                <a:cs typeface="Times New Roman"/>
              </a:rPr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6B03-3EBC-6ED5-9653-4D9C7E3DC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805" y="1810139"/>
            <a:ext cx="10991460" cy="4422710"/>
          </a:xfrm>
        </p:spPr>
        <p:txBody>
          <a:bodyPr>
            <a:normAutofit fontScale="40000" lnSpcReduction="20000"/>
          </a:bodyPr>
          <a:lstStyle/>
          <a:p>
            <a:pPr marL="5504" algn="l">
              <a:spcBef>
                <a:spcPts val="190"/>
              </a:spcBef>
              <a:buSzPct val="96363"/>
              <a:tabLst>
                <a:tab pos="182466" algn="l"/>
              </a:tabLst>
            </a:pPr>
            <a:r>
              <a:rPr lang="en-US" sz="8600" dirty="0">
                <a:latin typeface="Times New Roman"/>
                <a:cs typeface="Times New Roman"/>
              </a:rPr>
              <a:t>1.Triggered by timeout or 3 duplicate–ACKs: </a:t>
            </a:r>
            <a:r>
              <a:rPr lang="en-US" sz="8600" dirty="0" err="1">
                <a:latin typeface="Times New Roman"/>
                <a:cs typeface="Times New Roman"/>
              </a:rPr>
              <a:t>Timeout:ssthresh</a:t>
            </a:r>
            <a:r>
              <a:rPr lang="en-US" sz="8600" dirty="0">
                <a:latin typeface="Times New Roman"/>
                <a:cs typeface="Times New Roman"/>
              </a:rPr>
              <a:t> = </a:t>
            </a:r>
            <a:r>
              <a:rPr lang="en-US" sz="8600" dirty="0" err="1">
                <a:latin typeface="Times New Roman"/>
                <a:cs typeface="Times New Roman"/>
              </a:rPr>
              <a:t>cwnd</a:t>
            </a:r>
            <a:r>
              <a:rPr lang="en-US" sz="8600" dirty="0">
                <a:latin typeface="Times New Roman"/>
                <a:cs typeface="Times New Roman"/>
              </a:rPr>
              <a:t> / 2, </a:t>
            </a:r>
            <a:r>
              <a:rPr lang="en-US" sz="8600" dirty="0" err="1">
                <a:latin typeface="Times New Roman"/>
                <a:cs typeface="Times New Roman"/>
              </a:rPr>
              <a:t>cwnd</a:t>
            </a:r>
            <a:r>
              <a:rPr lang="en-US" sz="8600" dirty="0">
                <a:latin typeface="Times New Roman"/>
                <a:cs typeface="Times New Roman"/>
              </a:rPr>
              <a:t> = 1 MSS, restart with Slow Start</a:t>
            </a:r>
            <a:r>
              <a:rPr lang="en-US" sz="8600">
                <a:latin typeface="Times New Roman"/>
                <a:cs typeface="Times New Roman"/>
              </a:rPr>
              <a:t>. </a:t>
            </a:r>
            <a:endParaRPr lang="en-US" sz="8600" dirty="0">
              <a:latin typeface="Times New Roman"/>
              <a:cs typeface="Times New Roman"/>
            </a:endParaRPr>
          </a:p>
          <a:p>
            <a:pPr marL="5504" algn="l">
              <a:spcBef>
                <a:spcPts val="190"/>
              </a:spcBef>
              <a:buSzPct val="96363"/>
              <a:tabLst>
                <a:tab pos="182466" algn="l"/>
              </a:tabLst>
            </a:pPr>
            <a:r>
              <a:rPr lang="en-US" sz="8600">
                <a:latin typeface="Times New Roman"/>
                <a:cs typeface="Times New Roman"/>
              </a:rPr>
              <a:t>3</a:t>
            </a:r>
            <a:r>
              <a:rPr lang="en-US" sz="8600" dirty="0">
                <a:latin typeface="Times New Roman"/>
                <a:cs typeface="Times New Roman"/>
              </a:rPr>
              <a:t>. Duplicate ACKs:</a:t>
            </a:r>
          </a:p>
          <a:p>
            <a:pPr marL="5504" algn="l">
              <a:spcBef>
                <a:spcPts val="190"/>
              </a:spcBef>
              <a:buSzPct val="96363"/>
              <a:tabLst>
                <a:tab pos="182466" algn="l"/>
              </a:tabLst>
            </a:pPr>
            <a:r>
              <a:rPr lang="en-US" sz="8600" dirty="0">
                <a:latin typeface="Times New Roman"/>
                <a:cs typeface="Times New Roman"/>
              </a:rPr>
              <a:t> </a:t>
            </a:r>
            <a:r>
              <a:rPr lang="en-US" sz="8600" dirty="0" err="1">
                <a:latin typeface="Times New Roman"/>
                <a:cs typeface="Times New Roman"/>
              </a:rPr>
              <a:t>ssthresh</a:t>
            </a:r>
            <a:r>
              <a:rPr lang="en-US" sz="8600" dirty="0">
                <a:latin typeface="Times New Roman"/>
                <a:cs typeface="Times New Roman"/>
              </a:rPr>
              <a:t> = </a:t>
            </a:r>
            <a:r>
              <a:rPr lang="en-US" sz="8600" dirty="0" err="1">
                <a:latin typeface="Times New Roman"/>
                <a:cs typeface="Times New Roman"/>
              </a:rPr>
              <a:t>cwnd</a:t>
            </a:r>
            <a:r>
              <a:rPr lang="en-US" sz="8600" dirty="0">
                <a:latin typeface="Times New Roman"/>
                <a:cs typeface="Times New Roman"/>
              </a:rPr>
              <a:t> / 2, </a:t>
            </a:r>
            <a:r>
              <a:rPr lang="en-US" sz="8600" dirty="0" err="1">
                <a:latin typeface="Times New Roman"/>
                <a:cs typeface="Times New Roman"/>
              </a:rPr>
              <a:t>cwnd</a:t>
            </a:r>
            <a:r>
              <a:rPr lang="en-US" sz="8600" dirty="0">
                <a:latin typeface="Times New Roman"/>
                <a:cs typeface="Times New Roman"/>
              </a:rPr>
              <a:t> = </a:t>
            </a:r>
            <a:r>
              <a:rPr lang="en-US" sz="8600" dirty="0" err="1">
                <a:latin typeface="Times New Roman"/>
                <a:cs typeface="Times New Roman"/>
              </a:rPr>
              <a:t>ssthresh</a:t>
            </a:r>
            <a:r>
              <a:rPr lang="en-US" sz="8600" dirty="0">
                <a:latin typeface="Times New Roman"/>
                <a:cs typeface="Times New Roman"/>
              </a:rPr>
              <a:t>, enter Congestion Avoidance (Fast Recovery).</a:t>
            </a:r>
          </a:p>
          <a:p>
            <a:pPr marL="5504" algn="l">
              <a:spcBef>
                <a:spcPts val="190"/>
              </a:spcBef>
              <a:buSzPct val="96363"/>
              <a:tabLst>
                <a:tab pos="182466" algn="l"/>
              </a:tabLst>
            </a:pPr>
            <a:endParaRPr lang="en-US" sz="11200" b="1" dirty="0">
              <a:latin typeface="Times New Roman"/>
              <a:cs typeface="Times New Roman"/>
            </a:endParaRPr>
          </a:p>
          <a:p>
            <a:pPr marL="182466" indent="-176962" algn="l">
              <a:spcBef>
                <a:spcPts val="190"/>
              </a:spcBef>
              <a:buSzPct val="96363"/>
              <a:buFont typeface="Times New Roman"/>
              <a:buAutoNum type="arabicPeriod" startAt="4"/>
              <a:tabLst>
                <a:tab pos="182466" algn="l"/>
              </a:tabLst>
            </a:pPr>
            <a:r>
              <a:rPr lang="en-US" sz="7000" b="1" dirty="0">
                <a:latin typeface="Times New Roman"/>
                <a:cs typeface="Times New Roman"/>
              </a:rPr>
              <a:t>Fast</a:t>
            </a:r>
            <a:r>
              <a:rPr lang="en-US" sz="7000" b="1" spc="-50" dirty="0">
                <a:latin typeface="Times New Roman"/>
                <a:cs typeface="Times New Roman"/>
              </a:rPr>
              <a:t> </a:t>
            </a:r>
            <a:r>
              <a:rPr lang="en-US" sz="7000" b="1" dirty="0">
                <a:latin typeface="Times New Roman"/>
                <a:cs typeface="Times New Roman"/>
              </a:rPr>
              <a:t>Retransmit</a:t>
            </a:r>
            <a:r>
              <a:rPr lang="en-US" sz="7000" b="1" spc="-50" dirty="0">
                <a:latin typeface="Times New Roman"/>
                <a:cs typeface="Times New Roman"/>
              </a:rPr>
              <a:t> </a:t>
            </a:r>
            <a:r>
              <a:rPr lang="en-US" sz="7000" b="1" dirty="0">
                <a:latin typeface="Times New Roman"/>
                <a:cs typeface="Times New Roman"/>
              </a:rPr>
              <a:t>&amp;</a:t>
            </a:r>
            <a:r>
              <a:rPr lang="en-US" sz="7000" b="1" spc="-47" dirty="0">
                <a:latin typeface="Times New Roman"/>
                <a:cs typeface="Times New Roman"/>
              </a:rPr>
              <a:t> </a:t>
            </a:r>
            <a:r>
              <a:rPr lang="en-US" sz="7000" b="1" dirty="0">
                <a:latin typeface="Times New Roman"/>
                <a:cs typeface="Times New Roman"/>
              </a:rPr>
              <a:t>Fast</a:t>
            </a:r>
            <a:r>
              <a:rPr lang="en-US" sz="7000" b="1" spc="-50" dirty="0">
                <a:latin typeface="Times New Roman"/>
                <a:cs typeface="Times New Roman"/>
              </a:rPr>
              <a:t> </a:t>
            </a:r>
            <a:r>
              <a:rPr lang="en-US" sz="7000" b="1" dirty="0">
                <a:latin typeface="Times New Roman"/>
                <a:cs typeface="Times New Roman"/>
              </a:rPr>
              <a:t>Recovery</a:t>
            </a:r>
            <a:r>
              <a:rPr lang="en-US" sz="7000" b="1" spc="-50" dirty="0">
                <a:latin typeface="Times New Roman"/>
                <a:cs typeface="Times New Roman"/>
              </a:rPr>
              <a:t> </a:t>
            </a:r>
          </a:p>
          <a:p>
            <a:pPr marL="5504" algn="l">
              <a:spcBef>
                <a:spcPts val="190"/>
              </a:spcBef>
              <a:buSzPct val="96363"/>
              <a:tabLst>
                <a:tab pos="182466" algn="l"/>
              </a:tabLst>
            </a:pPr>
            <a:r>
              <a:rPr lang="en-US" sz="11200" spc="-4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Retransmit</a:t>
            </a:r>
            <a:r>
              <a:rPr lang="en-US" sz="8600" spc="-50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lost</a:t>
            </a:r>
            <a:r>
              <a:rPr lang="en-US" sz="8600" spc="-4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packet</a:t>
            </a:r>
            <a:r>
              <a:rPr lang="en-US" sz="8600" spc="-50" dirty="0">
                <a:latin typeface="Times New Roman"/>
                <a:cs typeface="Times New Roman"/>
              </a:rPr>
              <a:t> </a:t>
            </a:r>
            <a:r>
              <a:rPr lang="en-US" sz="8600" spc="-7" dirty="0">
                <a:latin typeface="Times New Roman"/>
                <a:cs typeface="Times New Roman"/>
              </a:rPr>
              <a:t>after </a:t>
            </a:r>
            <a:r>
              <a:rPr lang="en-US" sz="8600" spc="-13" dirty="0">
                <a:latin typeface="Times New Roman"/>
                <a:cs typeface="Times New Roman"/>
              </a:rPr>
              <a:t>3 duplicate</a:t>
            </a:r>
            <a:r>
              <a:rPr lang="en-US" sz="8600" spc="-10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ACKs</a:t>
            </a:r>
            <a:r>
              <a:rPr lang="en-US" sz="8600" spc="-6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without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waiting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for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timeout,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then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halve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dirty="0" err="1">
                <a:latin typeface="Times New Roman"/>
                <a:cs typeface="Times New Roman"/>
              </a:rPr>
              <a:t>cwnd</a:t>
            </a:r>
            <a:r>
              <a:rPr lang="en-US" sz="8600" spc="-37" dirty="0">
                <a:latin typeface="Times New Roman"/>
                <a:cs typeface="Times New Roman"/>
              </a:rPr>
              <a:t> </a:t>
            </a:r>
            <a:r>
              <a:rPr lang="en-US" sz="8600" spc="-17" dirty="0">
                <a:latin typeface="Times New Roman"/>
                <a:cs typeface="Times New Roman"/>
              </a:rPr>
              <a:t>and </a:t>
            </a:r>
            <a:r>
              <a:rPr lang="en-US" sz="8600" dirty="0">
                <a:latin typeface="Times New Roman"/>
                <a:cs typeface="Times New Roman"/>
              </a:rPr>
              <a:t>avoid</a:t>
            </a:r>
            <a:r>
              <a:rPr lang="en-US" sz="8600" spc="-5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full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slow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start.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Improves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network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efficiency</a:t>
            </a:r>
            <a:r>
              <a:rPr lang="en-US" sz="8600" spc="-57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after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dirty="0">
                <a:latin typeface="Times New Roman"/>
                <a:cs typeface="Times New Roman"/>
              </a:rPr>
              <a:t>packet</a:t>
            </a:r>
            <a:r>
              <a:rPr lang="en-US" sz="8600" spc="-53" dirty="0">
                <a:latin typeface="Times New Roman"/>
                <a:cs typeface="Times New Roman"/>
              </a:rPr>
              <a:t> </a:t>
            </a:r>
            <a:r>
              <a:rPr lang="en-US" sz="8600" spc="-7" dirty="0">
                <a:latin typeface="Times New Roman"/>
                <a:cs typeface="Times New Roman"/>
              </a:rPr>
              <a:t>loss.</a:t>
            </a:r>
            <a:endParaRPr lang="en-US" sz="86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3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09E9-58E2-03DE-BEE8-0F24A05A3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837066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ACC97-05D5-ABA3-E0F0-87C5EB480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290" y="2313992"/>
            <a:ext cx="11457992" cy="440404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algn="l"/>
            <a:r>
              <a:rPr lang="en-US" sz="11200" dirty="0"/>
              <a:t>TCP automatically adjusts its transmission rate according to network conditions.</a:t>
            </a:r>
          </a:p>
          <a:p>
            <a:pPr algn="l"/>
            <a:r>
              <a:rPr lang="en-US" sz="11200" dirty="0"/>
              <a:t>It uses four techniques:</a:t>
            </a:r>
          </a:p>
          <a:p>
            <a:pPr algn="l"/>
            <a:endParaRPr lang="en-US" sz="11200" dirty="0"/>
          </a:p>
          <a:p>
            <a:pPr algn="l"/>
            <a:r>
              <a:rPr lang="en-US" sz="11200" dirty="0"/>
              <a:t>1.slow start threshold(</a:t>
            </a:r>
            <a:r>
              <a:rPr lang="en-US" sz="11200" dirty="0" err="1"/>
              <a:t>ssthresh</a:t>
            </a:r>
            <a:r>
              <a:rPr lang="en-US" sz="11200" dirty="0"/>
              <a:t>), </a:t>
            </a:r>
          </a:p>
          <a:p>
            <a:pPr algn="l"/>
            <a:r>
              <a:rPr lang="en-US" sz="11200" dirty="0"/>
              <a:t>2. congestion Avoidance,</a:t>
            </a:r>
          </a:p>
          <a:p>
            <a:pPr algn="l"/>
            <a:r>
              <a:rPr lang="en-US" sz="11200" dirty="0"/>
              <a:t>3. congestion detection and,</a:t>
            </a:r>
          </a:p>
          <a:p>
            <a:pPr algn="l"/>
            <a:r>
              <a:rPr lang="en-US" sz="11200" dirty="0"/>
              <a:t>4. fast Retransmit &amp; fast recovery.</a:t>
            </a:r>
          </a:p>
          <a:p>
            <a:pPr algn="l"/>
            <a:r>
              <a:rPr lang="en-US" sz="11200" dirty="0"/>
              <a:t>These mechanisms ensure efficient and reliable data transmission.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1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1279</Words>
  <Application>Microsoft Office PowerPoint</Application>
  <PresentationFormat>Widescreen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Office Theme</vt:lpstr>
      <vt:lpstr>1_Office Theme</vt:lpstr>
      <vt:lpstr>Unit-7:Congestion Control and Quality of Services </vt:lpstr>
      <vt:lpstr>Table of Contents:</vt:lpstr>
      <vt:lpstr>7.1Congestion Control:Open Loop and Closed Loop</vt:lpstr>
      <vt:lpstr>Congestion Control Mechanism:</vt:lpstr>
      <vt:lpstr>1.Open Loop Congestion Control</vt:lpstr>
      <vt:lpstr>2.Window Policy</vt:lpstr>
      <vt:lpstr>4.Discarding Policy</vt:lpstr>
      <vt:lpstr>2.Closed Loop Congestion Control</vt:lpstr>
      <vt:lpstr>PowerPoint Presentation</vt:lpstr>
      <vt:lpstr>2.Choke Packet</vt:lpstr>
      <vt:lpstr>4.Explicit Signaling </vt:lpstr>
      <vt:lpstr>7.2 Traffic Shaping</vt:lpstr>
      <vt:lpstr>1.Leaky bucket  </vt:lpstr>
      <vt:lpstr>Working  Mechanism</vt:lpstr>
      <vt:lpstr>Advantage and Disadvantage </vt:lpstr>
      <vt:lpstr>Example </vt:lpstr>
      <vt:lpstr>Applications </vt:lpstr>
      <vt:lpstr>2.Token Bucket Algorithm </vt:lpstr>
      <vt:lpstr>How it works</vt:lpstr>
      <vt:lpstr>  Advantage: </vt:lpstr>
      <vt:lpstr>7  3 TCP Congestion Control</vt:lpstr>
      <vt:lpstr>Objective </vt:lpstr>
      <vt:lpstr>Congestion Window(cwnd)</vt:lpstr>
      <vt:lpstr>3.Congestion Detection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 Paneru</dc:creator>
  <cp:lastModifiedBy>Deepa Paneru</cp:lastModifiedBy>
  <cp:revision>3</cp:revision>
  <dcterms:created xsi:type="dcterms:W3CDTF">2026-07-06T07:05:14Z</dcterms:created>
  <dcterms:modified xsi:type="dcterms:W3CDTF">2026-07-06T16:30:48Z</dcterms:modified>
</cp:coreProperties>
</file>